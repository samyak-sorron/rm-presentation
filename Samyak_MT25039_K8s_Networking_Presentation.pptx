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presentation today evaluates the performance trade-offs of various Kubernetes networking plugins.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some context, while Kubernetes scales applications beautifully, the underlying network often struggles to keep up with the demands of modern data-intensive workloads.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that traditional overlay networks add a massive encapsulation tax. We are losing up to 50% of our bandwidth just by turning the CNI on, largely due to legacy iptables processing.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our literature survey evaluates three shifts: tuning the Linux kernel, deploying on stripped-down edge distributions, and utilizing eBPF to bypass the traditional networking stack entirely.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results, the chart shows Calico handles kernel optimizations incredibly well. However, for sheer latency, Flannel is surprisingly the winner, defying the assumption that encapsulation always slows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edge, the results are counter-intuitive. Deploying a lightweight OS like K3s doesn't magically make your network lightweight. Complex plugins like Cilium actually consume more memory on edge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idle conditions, traditional iptables is actually faster. But under heavy stress, eBPF saves significant system resources—cutting CPU usage by 5% and saving 200MB of RAM, preventing cluster failure.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match the CNI to the use case. Future systems engineering research must look toward DPUs and SmartNICs to offload this routing overhead entirely. Thank you, I am open to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TextBox 3"/>
          <p:cNvSpPr txBox="1"/>
          <p:nvPr/>
        </p:nvSpPr>
        <p:spPr>
          <a:xfrm>
            <a:off x="8412480" y="54864"/>
            <a:ext cx="3657600" cy="493776"/>
          </a:xfrm>
          <a:prstGeom prst="rect">
            <a:avLst/>
          </a:prstGeom>
          <a:noFill/>
        </p:spPr>
        <p:txBody>
          <a:bodyPr wrap="none">
            <a:spAutoFit/>
          </a:bodyPr>
          <a:lstStyle/>
          <a:p>
            <a:pPr algn="r"/>
            <a:r>
              <a:rPr sz="900" b="1">
                <a:solidFill>
                  <a:srgbClr val="1A1A1A"/>
                </a:solidFill>
                <a:latin typeface="Calibri"/>
              </a:rPr>
              <a:t>ECE  |  </a:t>
            </a:r>
            <a:r>
              <a:rPr sz="750">
                <a:solidFill>
                  <a:srgbClr val="505050"/>
                </a:solidFill>
                <a:latin typeface="Calibri"/>
              </a:rPr>
              <a:t>DEPARTMENT OF ELECTRONICS &amp;</a:t>
            </a:r>
          </a:p>
          <a:p>
            <a:pPr algn="r">
              <a:spcBef>
                <a:spcPts val="200"/>
              </a:spcBef>
            </a:pPr>
            <a:r>
              <a:rPr sz="900" b="1">
                <a:solidFill>
                  <a:srgbClr val="107C6E"/>
                </a:solidFill>
                <a:latin typeface="Calibri"/>
              </a:rPr>
              <a:t>IIID  </a:t>
            </a:r>
            <a:r>
              <a:rPr sz="750">
                <a:solidFill>
                  <a:srgbClr val="505050"/>
                </a:solidFill>
                <a:latin typeface="Calibri"/>
              </a:rPr>
              <a:t>COMMUNICATIONS </a:t>
            </a:r>
            <a:r>
              <a:rPr sz="750" b="1">
                <a:solidFill>
                  <a:srgbClr val="107C6E"/>
                </a:solidFill>
                <a:latin typeface="Calibri"/>
              </a:rPr>
              <a:t>ENGINEERING</a:t>
            </a:r>
          </a:p>
        </p:txBody>
      </p:sp>
      <p:sp>
        <p:nvSpPr>
          <p:cNvPr id="5" name="Rectangle 4"/>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1 / 8</a:t>
            </a:r>
          </a:p>
        </p:txBody>
      </p:sp>
      <p:sp>
        <p:nvSpPr>
          <p:cNvPr id="10" name="TextBox 9"/>
          <p:cNvSpPr txBox="1"/>
          <p:nvPr/>
        </p:nvSpPr>
        <p:spPr>
          <a:xfrm>
            <a:off x="457200" y="1188720"/>
            <a:ext cx="7132320" cy="2560320"/>
          </a:xfrm>
          <a:prstGeom prst="rect">
            <a:avLst/>
          </a:prstGeom>
          <a:noFill/>
        </p:spPr>
        <p:txBody>
          <a:bodyPr wrap="square">
            <a:spAutoFit/>
          </a:bodyPr>
          <a:lstStyle/>
          <a:p>
            <a:pPr algn="l"/>
            <a:r>
              <a:rPr sz="3000" b="1">
                <a:solidFill>
                  <a:srgbClr val="075048"/>
                </a:solidFill>
                <a:latin typeface="Calibri"/>
              </a:rPr>
              <a:t>Review of Literature on Performance and
Architectural Trade-offs in Kubernetes
Container Network Interfaces</a:t>
            </a:r>
          </a:p>
        </p:txBody>
      </p:sp>
      <p:sp>
        <p:nvSpPr>
          <p:cNvPr id="11" name="Rectangle 10"/>
          <p:cNvSpPr/>
          <p:nvPr/>
        </p:nvSpPr>
        <p:spPr>
          <a:xfrm>
            <a:off x="457200" y="3886200"/>
            <a:ext cx="7132320"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096512"/>
            <a:ext cx="7132320" cy="411480"/>
          </a:xfrm>
          <a:prstGeom prst="rect">
            <a:avLst/>
          </a:prstGeom>
          <a:noFill/>
        </p:spPr>
        <p:txBody>
          <a:bodyPr wrap="none">
            <a:spAutoFit/>
          </a:bodyPr>
          <a:lstStyle/>
          <a:p>
            <a:pPr algn="l"/>
            <a:r>
              <a:rPr sz="1700">
                <a:solidFill>
                  <a:srgbClr val="1A1A1A"/>
                </a:solidFill>
                <a:latin typeface="Calibri"/>
              </a:rPr>
              <a:t>Samyak Kr Sharma</a:t>
            </a:r>
          </a:p>
        </p:txBody>
      </p:sp>
      <p:sp>
        <p:nvSpPr>
          <p:cNvPr id="13" name="TextBox 12"/>
          <p:cNvSpPr txBox="1"/>
          <p:nvPr/>
        </p:nvSpPr>
        <p:spPr>
          <a:xfrm>
            <a:off x="457200" y="4617720"/>
            <a:ext cx="7132320" cy="411480"/>
          </a:xfrm>
          <a:prstGeom prst="rect">
            <a:avLst/>
          </a:prstGeom>
          <a:noFill/>
        </p:spPr>
        <p:txBody>
          <a:bodyPr wrap="none">
            <a:spAutoFit/>
          </a:bodyPr>
          <a:lstStyle/>
          <a:p>
            <a:pPr algn="l"/>
            <a:r>
              <a:rPr sz="1300">
                <a:solidFill>
                  <a:srgbClr val="505050"/>
                </a:solidFill>
                <a:latin typeface="Calibri"/>
              </a:rPr>
              <a:t>Roll No: MT25039  |  IIIT-Delhi  |  Research Methods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Rectangle 3"/>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2 / 8</a:t>
            </a:r>
          </a:p>
        </p:txBody>
      </p:sp>
      <p:sp>
        <p:nvSpPr>
          <p:cNvPr id="9" name="TextBox 8"/>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1.  </a:t>
            </a:r>
            <a:r>
              <a:rPr sz="2200" b="1">
                <a:solidFill>
                  <a:srgbClr val="107C6E"/>
                </a:solidFill>
                <a:latin typeface="Calibri"/>
              </a:rPr>
              <a:t>Kubernetes Scales, But the Network Lags</a:t>
            </a:r>
          </a:p>
        </p:txBody>
      </p:sp>
      <p:sp>
        <p:nvSpPr>
          <p:cNvPr id="10" name="Rectangle 9"/>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25880"/>
            <a:ext cx="11274552" cy="5166360"/>
          </a:xfrm>
          <a:prstGeom prst="rect">
            <a:avLst/>
          </a:prstGeom>
          <a:noFill/>
        </p:spPr>
        <p:txBody>
          <a:bodyPr wrap="square">
            <a:spAutoFit/>
          </a:bodyPr>
          <a:lstStyle/>
          <a:p>
            <a:pPr algn="l">
              <a:spcBef>
                <a:spcPts val="1100"/>
              </a:spcBef>
              <a:spcAft>
                <a:spcPts val="0"/>
              </a:spcAft>
            </a:pPr>
            <a:r>
              <a:rPr sz="1700">
                <a:solidFill>
                  <a:srgbClr val="1A1A1A"/>
                </a:solidFill>
                <a:latin typeface="Calibri"/>
              </a:rPr>
              <a:t>•  </a:t>
            </a:r>
            <a:r>
              <a:rPr sz="1700" b="1">
                <a:solidFill>
                  <a:srgbClr val="075048"/>
                </a:solidFill>
                <a:latin typeface="Calibri"/>
              </a:rPr>
              <a:t>Orchestration Standard:</a:t>
            </a:r>
            <a:r>
              <a:rPr sz="1700" b="0">
                <a:solidFill>
                  <a:srgbClr val="1A1A1A"/>
                </a:solidFill>
                <a:latin typeface="Calibri"/>
              </a:rPr>
              <a:t> Kubernetes orchestrates workloads from massive clouds to constrained edge environments.</a:t>
            </a:r>
          </a:p>
          <a:p>
            <a:pPr algn="l">
              <a:spcBef>
                <a:spcPts val="1100"/>
              </a:spcBef>
              <a:spcAft>
                <a:spcPts val="0"/>
              </a:spcAft>
            </a:pPr>
            <a:r>
              <a:rPr sz="1700">
                <a:solidFill>
                  <a:srgbClr val="1A1A1A"/>
                </a:solidFill>
                <a:latin typeface="Calibri"/>
              </a:rPr>
              <a:t>•  </a:t>
            </a:r>
            <a:r>
              <a:rPr sz="1700" b="1">
                <a:solidFill>
                  <a:srgbClr val="075048"/>
                </a:solidFill>
                <a:latin typeface="Calibri"/>
              </a:rPr>
              <a:t>The CNI Role:</a:t>
            </a:r>
            <a:r>
              <a:rPr sz="1700" b="0">
                <a:solidFill>
                  <a:srgbClr val="1A1A1A"/>
                </a:solidFill>
                <a:latin typeface="Calibri"/>
              </a:rPr>
              <a:t> The Container Network Interface (CNI) dictates all pod-to-node communication flows.</a:t>
            </a:r>
          </a:p>
          <a:p>
            <a:pPr algn="l">
              <a:spcBef>
                <a:spcPts val="1100"/>
              </a:spcBef>
              <a:spcAft>
                <a:spcPts val="0"/>
              </a:spcAft>
            </a:pPr>
            <a:r>
              <a:rPr sz="1700">
                <a:solidFill>
                  <a:srgbClr val="1A1A1A"/>
                </a:solidFill>
                <a:latin typeface="Calibri"/>
              </a:rPr>
              <a:t>•  </a:t>
            </a:r>
            <a:r>
              <a:rPr sz="1700" b="1">
                <a:solidFill>
                  <a:srgbClr val="075048"/>
                </a:solidFill>
                <a:latin typeface="Calibri"/>
              </a:rPr>
              <a:t>Evolving Demands:</a:t>
            </a:r>
            <a:r>
              <a:rPr sz="1700" b="0">
                <a:solidFill>
                  <a:srgbClr val="1A1A1A"/>
                </a:solidFill>
                <a:latin typeface="Calibri"/>
              </a:rPr>
              <a:t> Modern data-intensive workloads require microsecond latency and high throughput.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Rectangle 3"/>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3 / 8</a:t>
            </a:r>
          </a:p>
        </p:txBody>
      </p:sp>
      <p:sp>
        <p:nvSpPr>
          <p:cNvPr id="9" name="TextBox 8"/>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2.  </a:t>
            </a:r>
            <a:r>
              <a:rPr sz="2200" b="1">
                <a:solidFill>
                  <a:srgbClr val="107C6E"/>
                </a:solidFill>
                <a:latin typeface="Calibri"/>
              </a:rPr>
              <a:t>The Heavy Toll of Traditional Network Overlays</a:t>
            </a:r>
          </a:p>
        </p:txBody>
      </p:sp>
      <p:sp>
        <p:nvSpPr>
          <p:cNvPr id="10" name="Rectangle 9"/>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25880"/>
            <a:ext cx="11274552" cy="5166360"/>
          </a:xfrm>
          <a:prstGeom prst="rect">
            <a:avLst/>
          </a:prstGeom>
          <a:noFill/>
        </p:spPr>
        <p:txBody>
          <a:bodyPr wrap="square">
            <a:spAutoFit/>
          </a:bodyPr>
          <a:lstStyle/>
          <a:p>
            <a:pPr algn="l">
              <a:spcBef>
                <a:spcPts val="1100"/>
              </a:spcBef>
              <a:spcAft>
                <a:spcPts val="0"/>
              </a:spcAft>
            </a:pPr>
            <a:r>
              <a:rPr sz="1700">
                <a:solidFill>
                  <a:srgbClr val="1A1A1A"/>
                </a:solidFill>
                <a:latin typeface="Calibri"/>
              </a:rPr>
              <a:t>•  </a:t>
            </a:r>
            <a:r>
              <a:rPr sz="1700" b="1">
                <a:solidFill>
                  <a:srgbClr val="075048"/>
                </a:solidFill>
                <a:latin typeface="Calibri"/>
              </a:rPr>
              <a:t>The Encapsulation Tax:</a:t>
            </a:r>
            <a:r>
              <a:rPr sz="1700" b="0">
                <a:solidFill>
                  <a:srgbClr val="1A1A1A"/>
                </a:solidFill>
                <a:latin typeface="Calibri"/>
              </a:rPr>
              <a:t> Standard CNIs cause a 40–50% bandwidth drop for UDP traffic (9000 MTU) vs. bare-metal networks.</a:t>
            </a:r>
          </a:p>
          <a:p>
            <a:pPr algn="l">
              <a:spcBef>
                <a:spcPts val="1100"/>
              </a:spcBef>
              <a:spcAft>
                <a:spcPts val="0"/>
              </a:spcAft>
            </a:pPr>
            <a:r>
              <a:rPr sz="1700">
                <a:solidFill>
                  <a:srgbClr val="1A1A1A"/>
                </a:solidFill>
                <a:latin typeface="Calibri"/>
              </a:rPr>
              <a:t>•  </a:t>
            </a:r>
            <a:r>
              <a:rPr sz="1700" b="1">
                <a:solidFill>
                  <a:srgbClr val="075048"/>
                </a:solidFill>
                <a:latin typeface="Calibri"/>
              </a:rPr>
              <a:t>Legacy Frameworks:</a:t>
            </a:r>
            <a:r>
              <a:rPr sz="1700" b="0">
                <a:solidFill>
                  <a:srgbClr val="1A1A1A"/>
                </a:solidFill>
                <a:latin typeface="Calibri"/>
              </a:rPr>
              <a:t> Traditional overlays rely on older, sequential Linux kernel frameworks like iptables.</a:t>
            </a:r>
          </a:p>
          <a:p>
            <a:pPr algn="l">
              <a:spcBef>
                <a:spcPts val="1100"/>
              </a:spcBef>
              <a:spcAft>
                <a:spcPts val="0"/>
              </a:spcAft>
            </a:pPr>
            <a:r>
              <a:rPr sz="1700">
                <a:solidFill>
                  <a:srgbClr val="1A1A1A"/>
                </a:solidFill>
                <a:latin typeface="Calibri"/>
              </a:rPr>
              <a:t>•  </a:t>
            </a:r>
            <a:r>
              <a:rPr sz="1700" b="1">
                <a:solidFill>
                  <a:srgbClr val="075048"/>
                </a:solidFill>
                <a:latin typeface="Calibri"/>
              </a:rPr>
              <a:t>Edge Inefficiency:</a:t>
            </a:r>
            <a:r>
              <a:rPr sz="1700" b="0">
                <a:solidFill>
                  <a:srgbClr val="1A1A1A"/>
                </a:solidFill>
                <a:latin typeface="Calibri"/>
              </a:rPr>
              <a:t> Deploying these plugins on constrained hardware yields problematic resource footprints.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TextBox 3"/>
          <p:cNvSpPr txBox="1"/>
          <p:nvPr/>
        </p:nvSpPr>
        <p:spPr>
          <a:xfrm>
            <a:off x="8412480" y="54864"/>
            <a:ext cx="3657600" cy="493776"/>
          </a:xfrm>
          <a:prstGeom prst="rect">
            <a:avLst/>
          </a:prstGeom>
          <a:noFill/>
        </p:spPr>
        <p:txBody>
          <a:bodyPr wrap="none">
            <a:spAutoFit/>
          </a:bodyPr>
          <a:lstStyle/>
          <a:p>
            <a:pPr algn="r"/>
            <a:r>
              <a:rPr sz="900" b="1">
                <a:solidFill>
                  <a:srgbClr val="1A1A1A"/>
                </a:solidFill>
                <a:latin typeface="Calibri"/>
              </a:rPr>
              <a:t>ECE  |  </a:t>
            </a:r>
            <a:r>
              <a:rPr sz="750">
                <a:solidFill>
                  <a:srgbClr val="505050"/>
                </a:solidFill>
                <a:latin typeface="Calibri"/>
              </a:rPr>
              <a:t>DEPARTMENT OF ELECTRONICS &amp;</a:t>
            </a:r>
          </a:p>
          <a:p>
            <a:pPr algn="r">
              <a:spcBef>
                <a:spcPts val="200"/>
              </a:spcBef>
            </a:pPr>
            <a:r>
              <a:rPr sz="900" b="1">
                <a:solidFill>
                  <a:srgbClr val="107C6E"/>
                </a:solidFill>
                <a:latin typeface="Calibri"/>
              </a:rPr>
              <a:t>IIID  </a:t>
            </a:r>
            <a:r>
              <a:rPr sz="750">
                <a:solidFill>
                  <a:srgbClr val="505050"/>
                </a:solidFill>
                <a:latin typeface="Calibri"/>
              </a:rPr>
              <a:t>COMMUNICATIONS </a:t>
            </a:r>
            <a:r>
              <a:rPr sz="750" b="1">
                <a:solidFill>
                  <a:srgbClr val="107C6E"/>
                </a:solidFill>
                <a:latin typeface="Calibri"/>
              </a:rPr>
              <a:t>ENGINEERING</a:t>
            </a:r>
          </a:p>
        </p:txBody>
      </p:sp>
      <p:sp>
        <p:nvSpPr>
          <p:cNvPr id="5" name="Rectangle 4"/>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4 / 8</a:t>
            </a:r>
          </a:p>
        </p:txBody>
      </p:sp>
      <p:sp>
        <p:nvSpPr>
          <p:cNvPr id="10" name="TextBox 9"/>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3.  </a:t>
            </a:r>
            <a:r>
              <a:rPr sz="2200" b="1">
                <a:solidFill>
                  <a:srgbClr val="107C6E"/>
                </a:solidFill>
                <a:latin typeface="Calibri"/>
              </a:rPr>
              <a:t>Evaluating Modern Routing and eBPF Alternatives</a:t>
            </a:r>
          </a:p>
        </p:txBody>
      </p:sp>
      <p:sp>
        <p:nvSpPr>
          <p:cNvPr id="11" name="Rectangle 10"/>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325880"/>
            <a:ext cx="11274552" cy="5166360"/>
          </a:xfrm>
          <a:prstGeom prst="rect">
            <a:avLst/>
          </a:prstGeom>
          <a:noFill/>
        </p:spPr>
        <p:txBody>
          <a:bodyPr wrap="square">
            <a:spAutoFit/>
          </a:bodyPr>
          <a:lstStyle/>
          <a:p>
            <a:pPr algn="l">
              <a:spcBef>
                <a:spcPts val="1100"/>
              </a:spcBef>
              <a:spcAft>
                <a:spcPts val="0"/>
              </a:spcAft>
            </a:pPr>
            <a:r>
              <a:rPr sz="1700">
                <a:solidFill>
                  <a:srgbClr val="1A1A1A"/>
                </a:solidFill>
                <a:latin typeface="Calibri"/>
              </a:rPr>
              <a:t>•  </a:t>
            </a:r>
            <a:r>
              <a:rPr sz="1700" b="1">
                <a:solidFill>
                  <a:srgbClr val="075048"/>
                </a:solidFill>
                <a:latin typeface="Calibri"/>
              </a:rPr>
              <a:t>System Tuning:</a:t>
            </a:r>
            <a:r>
              <a:rPr sz="1700" b="0">
                <a:solidFill>
                  <a:srgbClr val="1A1A1A"/>
                </a:solidFill>
                <a:latin typeface="Calibri"/>
              </a:rPr>
              <a:t> Measuring bandwidth recovery through custom kernel-level TCP/UDP optimizations.</a:t>
            </a:r>
          </a:p>
          <a:p>
            <a:pPr algn="l">
              <a:spcBef>
                <a:spcPts val="1100"/>
              </a:spcBef>
              <a:spcAft>
                <a:spcPts val="0"/>
              </a:spcAft>
            </a:pPr>
            <a:r>
              <a:rPr sz="1700">
                <a:solidFill>
                  <a:srgbClr val="1A1A1A"/>
                </a:solidFill>
                <a:latin typeface="Calibri"/>
              </a:rPr>
              <a:t>•  </a:t>
            </a:r>
            <a:r>
              <a:rPr sz="1700" b="1">
                <a:solidFill>
                  <a:srgbClr val="075048"/>
                </a:solidFill>
                <a:latin typeface="Calibri"/>
              </a:rPr>
              <a:t>Edge Distributions:</a:t>
            </a:r>
            <a:r>
              <a:rPr sz="1700" b="0">
                <a:solidFill>
                  <a:srgbClr val="1A1A1A"/>
                </a:solidFill>
                <a:latin typeface="Calibri"/>
              </a:rPr>
              <a:t> Quantifying RAM/CPU footprints of complex CNIs on lightweight OSs (K3s, MicroK8s).</a:t>
            </a:r>
          </a:p>
          <a:p>
            <a:pPr algn="l">
              <a:spcBef>
                <a:spcPts val="1100"/>
              </a:spcBef>
              <a:spcAft>
                <a:spcPts val="0"/>
              </a:spcAft>
            </a:pPr>
            <a:r>
              <a:rPr sz="1700">
                <a:solidFill>
                  <a:srgbClr val="1A1A1A"/>
                </a:solidFill>
                <a:latin typeface="Calibri"/>
              </a:rPr>
              <a:t>•  </a:t>
            </a:r>
            <a:r>
              <a:rPr sz="1700" b="1">
                <a:solidFill>
                  <a:srgbClr val="075048"/>
                </a:solidFill>
                <a:latin typeface="Calibri"/>
              </a:rPr>
              <a:t>eBPF Data Planes:</a:t>
            </a:r>
            <a:r>
              <a:rPr sz="1700" b="0">
                <a:solidFill>
                  <a:srgbClr val="1A1A1A"/>
                </a:solidFill>
                <a:latin typeface="Calibri"/>
              </a:rPr>
              <a:t> Analyzing technologies (like Cilium) that bypass kube-proxy by running programs directly in the kernel.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TextBox 3"/>
          <p:cNvSpPr txBox="1"/>
          <p:nvPr/>
        </p:nvSpPr>
        <p:spPr>
          <a:xfrm>
            <a:off x="8412480" y="54864"/>
            <a:ext cx="3657600" cy="493776"/>
          </a:xfrm>
          <a:prstGeom prst="rect">
            <a:avLst/>
          </a:prstGeom>
          <a:noFill/>
        </p:spPr>
        <p:txBody>
          <a:bodyPr wrap="none">
            <a:spAutoFit/>
          </a:bodyPr>
          <a:lstStyle/>
          <a:p>
            <a:pPr algn="r"/>
            <a:r>
              <a:rPr sz="900" b="1">
                <a:solidFill>
                  <a:srgbClr val="1A1A1A"/>
                </a:solidFill>
                <a:latin typeface="Calibri"/>
              </a:rPr>
              <a:t>ECE  |  </a:t>
            </a:r>
            <a:r>
              <a:rPr sz="750">
                <a:solidFill>
                  <a:srgbClr val="505050"/>
                </a:solidFill>
                <a:latin typeface="Calibri"/>
              </a:rPr>
              <a:t>DEPARTMENT OF ELECTRONICS &amp;</a:t>
            </a:r>
          </a:p>
          <a:p>
            <a:pPr algn="r">
              <a:spcBef>
                <a:spcPts val="200"/>
              </a:spcBef>
            </a:pPr>
            <a:r>
              <a:rPr sz="900" b="1">
                <a:solidFill>
                  <a:srgbClr val="107C6E"/>
                </a:solidFill>
                <a:latin typeface="Calibri"/>
              </a:rPr>
              <a:t>IIID  </a:t>
            </a:r>
            <a:r>
              <a:rPr sz="750">
                <a:solidFill>
                  <a:srgbClr val="505050"/>
                </a:solidFill>
                <a:latin typeface="Calibri"/>
              </a:rPr>
              <a:t>COMMUNICATIONS </a:t>
            </a:r>
            <a:r>
              <a:rPr sz="750" b="1">
                <a:solidFill>
                  <a:srgbClr val="107C6E"/>
                </a:solidFill>
                <a:latin typeface="Calibri"/>
              </a:rPr>
              <a:t>ENGINEERING</a:t>
            </a:r>
          </a:p>
        </p:txBody>
      </p:sp>
      <p:sp>
        <p:nvSpPr>
          <p:cNvPr id="5" name="Rectangle 4"/>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5 / 8</a:t>
            </a:r>
          </a:p>
        </p:txBody>
      </p:sp>
      <p:sp>
        <p:nvSpPr>
          <p:cNvPr id="10" name="TextBox 9"/>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4.  </a:t>
            </a:r>
            <a:r>
              <a:rPr sz="2200" b="1">
                <a:solidFill>
                  <a:srgbClr val="107C6E"/>
                </a:solidFill>
                <a:latin typeface="Calibri"/>
              </a:rPr>
              <a:t>Calico Thrives on Tuning, Flannel Wins on Latency</a:t>
            </a:r>
          </a:p>
        </p:txBody>
      </p:sp>
      <p:sp>
        <p:nvSpPr>
          <p:cNvPr id="11" name="Rectangle 10"/>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andwidth_chart.png"/>
          <p:cNvPicPr>
            <a:picLocks noChangeAspect="1"/>
          </p:cNvPicPr>
          <p:nvPr/>
        </p:nvPicPr>
        <p:blipFill>
          <a:blip r:embed="rId2"/>
          <a:stretch>
            <a:fillRect/>
          </a:stretch>
        </p:blipFill>
        <p:spPr>
          <a:xfrm>
            <a:off x="365760" y="1325880"/>
            <a:ext cx="6583680" cy="4937760"/>
          </a:xfrm>
          <a:prstGeom prst="rect">
            <a:avLst/>
          </a:prstGeom>
        </p:spPr>
      </p:pic>
      <p:sp>
        <p:nvSpPr>
          <p:cNvPr id="13" name="TextBox 12"/>
          <p:cNvSpPr txBox="1"/>
          <p:nvPr/>
        </p:nvSpPr>
        <p:spPr>
          <a:xfrm>
            <a:off x="365760" y="6300216"/>
            <a:ext cx="6583680" cy="274320"/>
          </a:xfrm>
          <a:prstGeom prst="rect">
            <a:avLst/>
          </a:prstGeom>
          <a:noFill/>
        </p:spPr>
        <p:txBody>
          <a:bodyPr wrap="none">
            <a:spAutoFit/>
          </a:bodyPr>
          <a:lstStyle/>
          <a:p>
            <a:pPr algn="ctr"/>
            <a:r>
              <a:rPr sz="950" i="1">
                <a:solidFill>
                  <a:srgbClr val="505050"/>
                </a:solidFill>
                <a:latin typeface="Calibri"/>
              </a:rPr>
              <a:t>Fig. 1 – TCP Bandwidth Efficiency Comparison across CNI Plugins</a:t>
            </a:r>
          </a:p>
        </p:txBody>
      </p:sp>
      <p:sp>
        <p:nvSpPr>
          <p:cNvPr id="14" name="TextBox 13"/>
          <p:cNvSpPr txBox="1"/>
          <p:nvPr/>
        </p:nvSpPr>
        <p:spPr>
          <a:xfrm>
            <a:off x="7223760" y="1325880"/>
            <a:ext cx="4572000" cy="5166360"/>
          </a:xfrm>
          <a:prstGeom prst="rect">
            <a:avLst/>
          </a:prstGeom>
          <a:noFill/>
        </p:spPr>
        <p:txBody>
          <a:bodyPr wrap="square">
            <a:spAutoFit/>
          </a:bodyPr>
          <a:lstStyle/>
          <a:p>
            <a:pPr algn="l">
              <a:spcBef>
                <a:spcPts val="400"/>
              </a:spcBef>
            </a:pPr>
            <a:r>
              <a:rPr sz="1500" b="1">
                <a:solidFill>
                  <a:srgbClr val="107C6E"/>
                </a:solidFill>
                <a:latin typeface="Calibri"/>
              </a:rPr>
              <a:t>Inferences:</a:t>
            </a:r>
          </a:p>
          <a:p>
            <a:pPr algn="l">
              <a:spcBef>
                <a:spcPts val="700"/>
              </a:spcBef>
            </a:pPr>
            <a:r>
              <a:rPr sz="1500">
                <a:solidFill>
                  <a:srgbClr val="1A1A1A"/>
                </a:solidFill>
                <a:latin typeface="Calibri"/>
              </a:rPr>
              <a:t>•  </a:t>
            </a:r>
            <a:r>
              <a:rPr sz="1500" b="1">
                <a:solidFill>
                  <a:srgbClr val="075048"/>
                </a:solidFill>
                <a:latin typeface="Calibri"/>
              </a:rPr>
              <a:t>Throughput:</a:t>
            </a:r>
            <a:r>
              <a:rPr sz="1500" b="0">
                <a:solidFill>
                  <a:srgbClr val="1A1A1A"/>
                </a:solidFill>
                <a:latin typeface="Calibri"/>
              </a:rPr>
              <a:t> Kernel optimizations allow direct-routing CNIs (Calico) to recover ~2 Gbit/s of bandwidth.</a:t>
            </a:r>
          </a:p>
          <a:p>
            <a:pPr algn="l">
              <a:spcBef>
                <a:spcPts val="700"/>
              </a:spcBef>
            </a:pPr>
            <a:r>
              <a:rPr sz="1500">
                <a:solidFill>
                  <a:srgbClr val="1A1A1A"/>
                </a:solidFill>
                <a:latin typeface="Calibri"/>
              </a:rPr>
              <a:t>•  </a:t>
            </a:r>
            <a:r>
              <a:rPr sz="1500" b="1">
                <a:solidFill>
                  <a:srgbClr val="075048"/>
                </a:solidFill>
                <a:latin typeface="Calibri"/>
              </a:rPr>
              <a:t>Latency:</a:t>
            </a:r>
            <a:r>
              <a:rPr sz="1500" b="0">
                <a:solidFill>
                  <a:srgbClr val="1A1A1A"/>
                </a:solidFill>
                <a:latin typeface="Calibri"/>
              </a:rPr>
              <a:t> Flannel exhibits the </a:t>
            </a:r>
            <a:r>
              <a:rPr sz="1500" b="1">
                <a:solidFill>
                  <a:srgbClr val="075048"/>
                </a:solidFill>
                <a:latin typeface="Calibri"/>
              </a:rPr>
              <a:t>lowest latency overhead</a:t>
            </a:r>
            <a:r>
              <a:rPr sz="1500" b="0">
                <a:solidFill>
                  <a:srgbClr val="1A1A1A"/>
                </a:solidFill>
                <a:latin typeface="Calibri"/>
              </a:rPr>
              <a:t> (20% faster than peers), despite using VXLAN encapsulation.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Rectangle 3"/>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6 / 8</a:t>
            </a:r>
          </a:p>
        </p:txBody>
      </p:sp>
      <p:sp>
        <p:nvSpPr>
          <p:cNvPr id="9" name="TextBox 8"/>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5.  </a:t>
            </a:r>
            <a:r>
              <a:rPr sz="2200" b="1">
                <a:solidFill>
                  <a:srgbClr val="107C6E"/>
                </a:solidFill>
                <a:latin typeface="Calibri"/>
              </a:rPr>
              <a:t>Lightweight OS Does Not Mean Lightweight CNI</a:t>
            </a:r>
          </a:p>
        </p:txBody>
      </p:sp>
      <p:sp>
        <p:nvSpPr>
          <p:cNvPr id="10" name="Rectangle 9"/>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pu_ram_grid.png"/>
          <p:cNvPicPr>
            <a:picLocks noChangeAspect="1"/>
          </p:cNvPicPr>
          <p:nvPr/>
        </p:nvPicPr>
        <p:blipFill>
          <a:blip r:embed="rId2"/>
          <a:stretch>
            <a:fillRect/>
          </a:stretch>
        </p:blipFill>
        <p:spPr>
          <a:xfrm>
            <a:off x="365760" y="1325880"/>
            <a:ext cx="6400800" cy="5029200"/>
          </a:xfrm>
          <a:prstGeom prst="rect">
            <a:avLst/>
          </a:prstGeom>
        </p:spPr>
      </p:pic>
      <p:sp>
        <p:nvSpPr>
          <p:cNvPr id="12" name="TextBox 11"/>
          <p:cNvSpPr txBox="1"/>
          <p:nvPr/>
        </p:nvSpPr>
        <p:spPr>
          <a:xfrm>
            <a:off x="365760" y="6373368"/>
            <a:ext cx="6400800" cy="274320"/>
          </a:xfrm>
          <a:prstGeom prst="rect">
            <a:avLst/>
          </a:prstGeom>
          <a:noFill/>
        </p:spPr>
        <p:txBody>
          <a:bodyPr wrap="none">
            <a:spAutoFit/>
          </a:bodyPr>
          <a:lstStyle/>
          <a:p>
            <a:pPr algn="ctr"/>
            <a:r>
              <a:rPr sz="950" i="1">
                <a:solidFill>
                  <a:srgbClr val="505050"/>
                </a:solidFill>
                <a:latin typeface="Calibri"/>
              </a:rPr>
              <a:t>Fig. 2 – CPU and RAM Utilization across Vanilla and Edge K8s Distributions</a:t>
            </a:r>
          </a:p>
        </p:txBody>
      </p:sp>
      <p:sp>
        <p:nvSpPr>
          <p:cNvPr id="13" name="TextBox 12"/>
          <p:cNvSpPr txBox="1"/>
          <p:nvPr/>
        </p:nvSpPr>
        <p:spPr>
          <a:xfrm>
            <a:off x="7040880" y="1325880"/>
            <a:ext cx="4754880" cy="5166360"/>
          </a:xfrm>
          <a:prstGeom prst="rect">
            <a:avLst/>
          </a:prstGeom>
          <a:noFill/>
        </p:spPr>
        <p:txBody>
          <a:bodyPr wrap="square">
            <a:spAutoFit/>
          </a:bodyPr>
          <a:lstStyle/>
          <a:p>
            <a:pPr algn="l">
              <a:spcBef>
                <a:spcPts val="400"/>
              </a:spcBef>
            </a:pPr>
            <a:r>
              <a:rPr sz="1500" b="1">
                <a:solidFill>
                  <a:srgbClr val="107C6E"/>
                </a:solidFill>
                <a:latin typeface="Calibri"/>
              </a:rPr>
              <a:t>Inferences:</a:t>
            </a:r>
          </a:p>
          <a:p>
            <a:pPr algn="l">
              <a:spcBef>
                <a:spcPts val="700"/>
              </a:spcBef>
            </a:pPr>
            <a:r>
              <a:rPr sz="1500">
                <a:solidFill>
                  <a:srgbClr val="1A1A1A"/>
                </a:solidFill>
                <a:latin typeface="Calibri"/>
              </a:rPr>
              <a:t>•  </a:t>
            </a:r>
            <a:r>
              <a:rPr sz="1500" b="1">
                <a:solidFill>
                  <a:srgbClr val="075048"/>
                </a:solidFill>
                <a:latin typeface="Calibri"/>
              </a:rPr>
              <a:t>CPU Stability:</a:t>
            </a:r>
            <a:r>
              <a:rPr sz="1500" b="0">
                <a:solidFill>
                  <a:srgbClr val="1A1A1A"/>
                </a:solidFill>
                <a:latin typeface="Calibri"/>
              </a:rPr>
              <a:t> CPU utilization remains largely static across vanilla and edge Kubernetes distributions.</a:t>
            </a:r>
          </a:p>
          <a:p>
            <a:pPr algn="l">
              <a:spcBef>
                <a:spcPts val="700"/>
              </a:spcBef>
            </a:pPr>
            <a:r>
              <a:rPr sz="1500">
                <a:solidFill>
                  <a:srgbClr val="1A1A1A"/>
                </a:solidFill>
                <a:latin typeface="Calibri"/>
              </a:rPr>
              <a:t>•  </a:t>
            </a:r>
            <a:r>
              <a:rPr sz="1500" b="1">
                <a:solidFill>
                  <a:srgbClr val="075048"/>
                </a:solidFill>
                <a:latin typeface="Calibri"/>
              </a:rPr>
              <a:t>RAM Penalty:</a:t>
            </a:r>
            <a:r>
              <a:rPr sz="1500" b="0">
                <a:solidFill>
                  <a:srgbClr val="1A1A1A"/>
                </a:solidFill>
                <a:latin typeface="Calibri"/>
              </a:rPr>
              <a:t> Flannel reduces RAM usage by </a:t>
            </a:r>
            <a:r>
              <a:rPr sz="1500" b="1">
                <a:solidFill>
                  <a:srgbClr val="075048"/>
                </a:solidFill>
                <a:latin typeface="Calibri"/>
              </a:rPr>
              <a:t>28%</a:t>
            </a:r>
            <a:r>
              <a:rPr sz="1500" b="0">
                <a:solidFill>
                  <a:srgbClr val="1A1A1A"/>
                </a:solidFill>
                <a:latin typeface="Calibri"/>
              </a:rPr>
              <a:t> in K3s, but complex plugins (Cilium) see a </a:t>
            </a:r>
            <a:r>
              <a:rPr sz="1500" b="1">
                <a:solidFill>
                  <a:srgbClr val="075048"/>
                </a:solidFill>
                <a:latin typeface="Calibri"/>
              </a:rPr>
              <a:t>14% memory increase</a:t>
            </a:r>
            <a:r>
              <a:rPr sz="1500" b="0">
                <a:solidFill>
                  <a:srgbClr val="1A1A1A"/>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Rectangle 3"/>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7 / 8</a:t>
            </a:r>
          </a:p>
        </p:txBody>
      </p:sp>
      <p:sp>
        <p:nvSpPr>
          <p:cNvPr id="9" name="TextBox 8"/>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6.  </a:t>
            </a:r>
            <a:r>
              <a:rPr sz="2200" b="1">
                <a:solidFill>
                  <a:srgbClr val="107C6E"/>
                </a:solidFill>
                <a:latin typeface="Calibri"/>
              </a:rPr>
              <a:t>eBPF Maximizes Resource Efficiency Under Load</a:t>
            </a:r>
          </a:p>
        </p:txBody>
      </p:sp>
      <p:sp>
        <p:nvSpPr>
          <p:cNvPr id="10" name="Rectangle 9"/>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ables_section.png"/>
          <p:cNvPicPr>
            <a:picLocks noChangeAspect="1"/>
          </p:cNvPicPr>
          <p:nvPr/>
        </p:nvPicPr>
        <p:blipFill>
          <a:blip r:embed="rId2"/>
          <a:stretch>
            <a:fillRect/>
          </a:stretch>
        </p:blipFill>
        <p:spPr>
          <a:xfrm>
            <a:off x="365760" y="1325880"/>
            <a:ext cx="6400800" cy="5029200"/>
          </a:xfrm>
          <a:prstGeom prst="rect">
            <a:avLst/>
          </a:prstGeom>
        </p:spPr>
      </p:pic>
      <p:sp>
        <p:nvSpPr>
          <p:cNvPr id="12" name="TextBox 11"/>
          <p:cNvSpPr txBox="1"/>
          <p:nvPr/>
        </p:nvSpPr>
        <p:spPr>
          <a:xfrm>
            <a:off x="365760" y="6373368"/>
            <a:ext cx="6400800" cy="274320"/>
          </a:xfrm>
          <a:prstGeom prst="rect">
            <a:avLst/>
          </a:prstGeom>
          <a:noFill/>
        </p:spPr>
        <p:txBody>
          <a:bodyPr wrap="none">
            <a:spAutoFit/>
          </a:bodyPr>
          <a:lstStyle/>
          <a:p>
            <a:pPr algn="ctr"/>
            <a:r>
              <a:rPr sz="950" i="1">
                <a:solidFill>
                  <a:srgbClr val="505050"/>
                </a:solidFill>
                <a:latin typeface="Calibri"/>
              </a:rPr>
              <a:t>Tables 1–4: iptables vs. eBPF – Unloaded and Loaded Cluster Results</a:t>
            </a:r>
          </a:p>
        </p:txBody>
      </p:sp>
      <p:sp>
        <p:nvSpPr>
          <p:cNvPr id="13" name="TextBox 12"/>
          <p:cNvSpPr txBox="1"/>
          <p:nvPr/>
        </p:nvSpPr>
        <p:spPr>
          <a:xfrm>
            <a:off x="7040880" y="1325880"/>
            <a:ext cx="4754880" cy="5166360"/>
          </a:xfrm>
          <a:prstGeom prst="rect">
            <a:avLst/>
          </a:prstGeom>
          <a:noFill/>
        </p:spPr>
        <p:txBody>
          <a:bodyPr wrap="square">
            <a:spAutoFit/>
          </a:bodyPr>
          <a:lstStyle/>
          <a:p>
            <a:pPr algn="l">
              <a:spcBef>
                <a:spcPts val="400"/>
              </a:spcBef>
            </a:pPr>
            <a:r>
              <a:rPr sz="1500" b="1">
                <a:solidFill>
                  <a:srgbClr val="107C6E"/>
                </a:solidFill>
                <a:latin typeface="Calibri"/>
              </a:rPr>
              <a:t>Inferences:</a:t>
            </a:r>
          </a:p>
          <a:p>
            <a:pPr algn="l">
              <a:spcBef>
                <a:spcPts val="700"/>
              </a:spcBef>
            </a:pPr>
            <a:r>
              <a:rPr sz="1500">
                <a:solidFill>
                  <a:srgbClr val="1A1A1A"/>
                </a:solidFill>
                <a:latin typeface="Calibri"/>
              </a:rPr>
              <a:t>•  </a:t>
            </a:r>
            <a:r>
              <a:rPr sz="1500" b="1">
                <a:solidFill>
                  <a:srgbClr val="075048"/>
                </a:solidFill>
                <a:latin typeface="Calibri"/>
              </a:rPr>
              <a:t>Idle State:</a:t>
            </a:r>
            <a:r>
              <a:rPr sz="1500" b="0">
                <a:solidFill>
                  <a:srgbClr val="1A1A1A"/>
                </a:solidFill>
                <a:latin typeface="Calibri"/>
              </a:rPr>
              <a:t> Traditional iptables achieves higher throughput (</a:t>
            </a:r>
            <a:r>
              <a:rPr sz="1500" b="1">
                <a:solidFill>
                  <a:srgbClr val="075048"/>
                </a:solidFill>
                <a:latin typeface="Calibri"/>
              </a:rPr>
              <a:t>7850 Mbps</a:t>
            </a:r>
            <a:r>
              <a:rPr sz="1500" b="0">
                <a:solidFill>
                  <a:srgbClr val="1A1A1A"/>
                </a:solidFill>
                <a:latin typeface="Calibri"/>
              </a:rPr>
              <a:t>) when cluster is unloaded.</a:t>
            </a:r>
          </a:p>
          <a:p>
            <a:pPr algn="l">
              <a:spcBef>
                <a:spcPts val="700"/>
              </a:spcBef>
            </a:pPr>
            <a:r>
              <a:rPr sz="1500">
                <a:solidFill>
                  <a:srgbClr val="1A1A1A"/>
                </a:solidFill>
                <a:latin typeface="Calibri"/>
              </a:rPr>
              <a:t>•  </a:t>
            </a:r>
            <a:r>
              <a:rPr sz="1500" b="1">
                <a:solidFill>
                  <a:srgbClr val="075048"/>
                </a:solidFill>
                <a:latin typeface="Calibri"/>
              </a:rPr>
              <a:t>Production Load:</a:t>
            </a:r>
            <a:r>
              <a:rPr sz="1500" b="0">
                <a:solidFill>
                  <a:srgbClr val="1A1A1A"/>
                </a:solidFill>
                <a:latin typeface="Calibri"/>
              </a:rPr>
              <a:t> Under heavy stress, eBPF cuts </a:t>
            </a:r>
            <a:r>
              <a:rPr sz="1500" b="1">
                <a:solidFill>
                  <a:srgbClr val="075048"/>
                </a:solidFill>
                <a:latin typeface="Calibri"/>
              </a:rPr>
              <a:t>CPU usage by ~5%</a:t>
            </a:r>
            <a:r>
              <a:rPr sz="1500" b="0">
                <a:solidFill>
                  <a:srgbClr val="1A1A1A"/>
                </a:solidFill>
                <a:latin typeface="Calibri"/>
              </a:rPr>
              <a:t> and saves nearly </a:t>
            </a:r>
            <a:r>
              <a:rPr sz="1500" b="1">
                <a:solidFill>
                  <a:srgbClr val="075048"/>
                </a:solidFill>
                <a:latin typeface="Calibri"/>
              </a:rPr>
              <a:t>200 MB</a:t>
            </a:r>
            <a:r>
              <a:rPr sz="1500" b="0">
                <a:solidFill>
                  <a:srgbClr val="1A1A1A"/>
                </a:solidFill>
                <a:latin typeface="Calibri"/>
              </a:rPr>
              <a:t> of 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548640"/>
            <a:ext cx="12188952" cy="1097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 y="54864"/>
            <a:ext cx="4389120" cy="493776"/>
          </a:xfrm>
          <a:prstGeom prst="rect">
            <a:avLst/>
          </a:prstGeom>
          <a:noFill/>
        </p:spPr>
        <p:txBody>
          <a:bodyPr wrap="none">
            <a:spAutoFit/>
          </a:bodyPr>
          <a:lstStyle/>
          <a:p>
            <a:pPr algn="l"/>
            <a:r>
              <a:rPr sz="1700" b="1">
                <a:solidFill>
                  <a:srgbClr val="107C6E"/>
                </a:solidFill>
                <a:latin typeface="Calibri"/>
              </a:rPr>
              <a:t>IIID</a:t>
            </a:r>
            <a:r>
              <a:rPr sz="750">
                <a:solidFill>
                  <a:srgbClr val="505050"/>
                </a:solidFill>
                <a:latin typeface="Calibri"/>
              </a:rPr>
              <a:t>   INDRAPRASTHA INSTITUTE of</a:t>
            </a:r>
          </a:p>
          <a:p>
            <a:pPr algn="l">
              <a:spcBef>
                <a:spcPts val="0"/>
              </a:spcBef>
            </a:pPr>
            <a:r>
              <a:rPr sz="750">
                <a:solidFill>
                  <a:srgbClr val="505050"/>
                </a:solidFill>
                <a:latin typeface="Calibri"/>
              </a:rPr>
              <a:t>           INFORMATION TECHNOLOGY </a:t>
            </a:r>
            <a:r>
              <a:rPr sz="750" b="1">
                <a:solidFill>
                  <a:srgbClr val="107C6E"/>
                </a:solidFill>
                <a:latin typeface="Calibri"/>
              </a:rPr>
              <a:t>DELHI</a:t>
            </a:r>
          </a:p>
        </p:txBody>
      </p:sp>
      <p:sp>
        <p:nvSpPr>
          <p:cNvPr id="4" name="TextBox 3"/>
          <p:cNvSpPr txBox="1"/>
          <p:nvPr/>
        </p:nvSpPr>
        <p:spPr>
          <a:xfrm>
            <a:off x="8412480" y="54864"/>
            <a:ext cx="3657600" cy="493776"/>
          </a:xfrm>
          <a:prstGeom prst="rect">
            <a:avLst/>
          </a:prstGeom>
          <a:noFill/>
        </p:spPr>
        <p:txBody>
          <a:bodyPr wrap="none">
            <a:spAutoFit/>
          </a:bodyPr>
          <a:lstStyle/>
          <a:p>
            <a:pPr algn="r"/>
            <a:r>
              <a:rPr sz="900" b="1">
                <a:solidFill>
                  <a:srgbClr val="1A1A1A"/>
                </a:solidFill>
                <a:latin typeface="Calibri"/>
              </a:rPr>
              <a:t>ECE  |  </a:t>
            </a:r>
            <a:r>
              <a:rPr sz="750">
                <a:solidFill>
                  <a:srgbClr val="505050"/>
                </a:solidFill>
                <a:latin typeface="Calibri"/>
              </a:rPr>
              <a:t>DEPARTMENT OF ELECTRONICS &amp;</a:t>
            </a:r>
          </a:p>
          <a:p>
            <a:pPr algn="r">
              <a:spcBef>
                <a:spcPts val="200"/>
              </a:spcBef>
            </a:pPr>
            <a:r>
              <a:rPr sz="900" b="1">
                <a:solidFill>
                  <a:srgbClr val="107C6E"/>
                </a:solidFill>
                <a:latin typeface="Calibri"/>
              </a:rPr>
              <a:t>IIID  </a:t>
            </a:r>
            <a:r>
              <a:rPr sz="750">
                <a:solidFill>
                  <a:srgbClr val="505050"/>
                </a:solidFill>
                <a:latin typeface="Calibri"/>
              </a:rPr>
              <a:t>COMMUNICATIONS </a:t>
            </a:r>
            <a:r>
              <a:rPr sz="750" b="1">
                <a:solidFill>
                  <a:srgbClr val="107C6E"/>
                </a:solidFill>
                <a:latin typeface="Calibri"/>
              </a:rPr>
              <a:t>ENGINEERING</a:t>
            </a:r>
          </a:p>
        </p:txBody>
      </p:sp>
      <p:sp>
        <p:nvSpPr>
          <p:cNvPr id="5" name="Rectangle 4"/>
          <p:cNvSpPr/>
          <p:nvPr/>
        </p:nvSpPr>
        <p:spPr>
          <a:xfrm rot="18900000">
            <a:off x="7543800" y="564184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18900000">
            <a:off x="8001000" y="513892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18900000">
            <a:off x="8458200" y="463600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8900000">
            <a:off x="8915400" y="4133088"/>
            <a:ext cx="5029200" cy="237744"/>
          </a:xfrm>
          <a:prstGeom prst="rect">
            <a:avLst/>
          </a:prstGeom>
          <a:solidFill>
            <a:srgbClr val="C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37392" y="6473952"/>
            <a:ext cx="914400" cy="320040"/>
          </a:xfrm>
          <a:prstGeom prst="rect">
            <a:avLst/>
          </a:prstGeom>
          <a:noFill/>
        </p:spPr>
        <p:txBody>
          <a:bodyPr wrap="none">
            <a:spAutoFit/>
          </a:bodyPr>
          <a:lstStyle/>
          <a:p>
            <a:pPr algn="r"/>
            <a:r>
              <a:rPr sz="1000">
                <a:solidFill>
                  <a:srgbClr val="505050"/>
                </a:solidFill>
                <a:latin typeface="Calibri"/>
              </a:rPr>
              <a:t>8 / 8</a:t>
            </a:r>
          </a:p>
        </p:txBody>
      </p:sp>
      <p:sp>
        <p:nvSpPr>
          <p:cNvPr id="10" name="TextBox 9"/>
          <p:cNvSpPr txBox="1"/>
          <p:nvPr/>
        </p:nvSpPr>
        <p:spPr>
          <a:xfrm>
            <a:off x="457200" y="685800"/>
            <a:ext cx="11274552" cy="594360"/>
          </a:xfrm>
          <a:prstGeom prst="rect">
            <a:avLst/>
          </a:prstGeom>
          <a:noFill/>
        </p:spPr>
        <p:txBody>
          <a:bodyPr wrap="square">
            <a:spAutoFit/>
          </a:bodyPr>
          <a:lstStyle/>
          <a:p>
            <a:pPr algn="l"/>
            <a:r>
              <a:rPr sz="2200" b="1">
                <a:solidFill>
                  <a:srgbClr val="107C6E"/>
                </a:solidFill>
                <a:latin typeface="Calibri"/>
              </a:rPr>
              <a:t>7.  </a:t>
            </a:r>
            <a:r>
              <a:rPr sz="2200" b="1">
                <a:solidFill>
                  <a:srgbClr val="107C6E"/>
                </a:solidFill>
                <a:latin typeface="Calibri"/>
              </a:rPr>
              <a:t>Aligning CNI Architecture to Deployment Needs</a:t>
            </a:r>
          </a:p>
        </p:txBody>
      </p:sp>
      <p:sp>
        <p:nvSpPr>
          <p:cNvPr id="11" name="Rectangle 10"/>
          <p:cNvSpPr/>
          <p:nvPr/>
        </p:nvSpPr>
        <p:spPr>
          <a:xfrm>
            <a:off x="457200" y="1252728"/>
            <a:ext cx="11274552" cy="22860"/>
          </a:xfrm>
          <a:prstGeom prst="rect">
            <a:avLst/>
          </a:prstGeom>
          <a:solidFill>
            <a:srgbClr val="107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325880"/>
            <a:ext cx="11274552" cy="5166360"/>
          </a:xfrm>
          <a:prstGeom prst="rect">
            <a:avLst/>
          </a:prstGeom>
          <a:noFill/>
        </p:spPr>
        <p:txBody>
          <a:bodyPr wrap="square">
            <a:spAutoFit/>
          </a:bodyPr>
          <a:lstStyle/>
          <a:p>
            <a:pPr algn="l">
              <a:spcBef>
                <a:spcPts val="1100"/>
              </a:spcBef>
              <a:spcAft>
                <a:spcPts val="0"/>
              </a:spcAft>
            </a:pPr>
            <a:r>
              <a:rPr sz="1700">
                <a:solidFill>
                  <a:srgbClr val="1A1A1A"/>
                </a:solidFill>
                <a:latin typeface="Calibri"/>
              </a:rPr>
              <a:t>•  </a:t>
            </a:r>
            <a:r>
              <a:rPr sz="1700" b="1">
                <a:solidFill>
                  <a:srgbClr val="075048"/>
                </a:solidFill>
                <a:latin typeface="Calibri"/>
              </a:rPr>
              <a:t>The Verdict:</a:t>
            </a:r>
            <a:r>
              <a:rPr sz="1700" b="0">
                <a:solidFill>
                  <a:srgbClr val="1A1A1A"/>
                </a:solidFill>
                <a:latin typeface="Calibri"/>
              </a:rPr>
              <a:t> Use </a:t>
            </a:r>
            <a:r>
              <a:rPr sz="1700" b="1">
                <a:solidFill>
                  <a:srgbClr val="075048"/>
                </a:solidFill>
                <a:latin typeface="Calibri"/>
              </a:rPr>
              <a:t>Flannel</a:t>
            </a:r>
            <a:r>
              <a:rPr sz="1700" b="0">
                <a:solidFill>
                  <a:srgbClr val="1A1A1A"/>
                </a:solidFill>
                <a:latin typeface="Calibri"/>
              </a:rPr>
              <a:t> for edge/latency, tuned </a:t>
            </a:r>
            <a:r>
              <a:rPr sz="1700" b="1">
                <a:solidFill>
                  <a:srgbClr val="075048"/>
                </a:solidFill>
                <a:latin typeface="Calibri"/>
              </a:rPr>
              <a:t>Calico</a:t>
            </a:r>
            <a:r>
              <a:rPr sz="1700" b="0">
                <a:solidFill>
                  <a:srgbClr val="1A1A1A"/>
                </a:solidFill>
                <a:latin typeface="Calibri"/>
              </a:rPr>
              <a:t> for throughput, and </a:t>
            </a:r>
            <a:r>
              <a:rPr sz="1700" b="1">
                <a:solidFill>
                  <a:srgbClr val="075048"/>
                </a:solidFill>
                <a:latin typeface="Calibri"/>
              </a:rPr>
              <a:t>Cilium (eBPF)</a:t>
            </a:r>
            <a:r>
              <a:rPr sz="1700" b="0">
                <a:solidFill>
                  <a:srgbClr val="1A1A1A"/>
                </a:solidFill>
                <a:latin typeface="Calibri"/>
              </a:rPr>
              <a:t> for massive scale.</a:t>
            </a:r>
          </a:p>
          <a:p>
            <a:pPr algn="l">
              <a:spcBef>
                <a:spcPts val="1100"/>
              </a:spcBef>
              <a:spcAft>
                <a:spcPts val="0"/>
              </a:spcAft>
            </a:pPr>
            <a:r>
              <a:rPr sz="1700">
                <a:solidFill>
                  <a:srgbClr val="1A1A1A"/>
                </a:solidFill>
                <a:latin typeface="Calibri"/>
              </a:rPr>
              <a:t>•  </a:t>
            </a:r>
            <a:r>
              <a:rPr sz="1700" b="1">
                <a:solidFill>
                  <a:srgbClr val="075048"/>
                </a:solidFill>
                <a:latin typeface="Calibri"/>
              </a:rPr>
              <a:t>Future Work:</a:t>
            </a:r>
            <a:r>
              <a:rPr sz="1700" b="0">
                <a:solidFill>
                  <a:srgbClr val="1A1A1A"/>
                </a:solidFill>
                <a:latin typeface="Calibri"/>
              </a:rPr>
              <a:t> Investigate hardware offloading via Data Processing Units (</a:t>
            </a:r>
            <a:r>
              <a:rPr sz="1700" b="1">
                <a:solidFill>
                  <a:srgbClr val="075048"/>
                </a:solidFill>
                <a:latin typeface="Calibri"/>
              </a:rPr>
              <a:t>DPUs</a:t>
            </a:r>
            <a:r>
              <a:rPr sz="1700" b="0">
                <a:solidFill>
                  <a:srgbClr val="1A1A1A"/>
                </a:solidFill>
                <a:latin typeface="Calibri"/>
              </a:rPr>
              <a:t>) for 100 Gbit/s networks.</a:t>
            </a:r>
          </a:p>
          <a:p>
            <a:pPr algn="l">
              <a:spcBef>
                <a:spcPts val="1100"/>
              </a:spcBef>
              <a:spcAft>
                <a:spcPts val="0"/>
              </a:spcAft>
            </a:pPr>
            <a:r>
              <a:rPr sz="1700">
                <a:solidFill>
                  <a:srgbClr val="1A1A1A"/>
                </a:solidFill>
                <a:latin typeface="Calibri"/>
              </a:rPr>
              <a:t>•  </a:t>
            </a:r>
            <a:r>
              <a:rPr sz="1700" b="1">
                <a:solidFill>
                  <a:srgbClr val="075048"/>
                </a:solidFill>
                <a:latin typeface="Calibri"/>
              </a:rPr>
              <a:t>Future Work:</a:t>
            </a:r>
            <a:r>
              <a:rPr sz="1700" b="0">
                <a:solidFill>
                  <a:srgbClr val="1A1A1A"/>
                </a:solidFill>
                <a:latin typeface="Calibri"/>
              </a:rPr>
              <a:t> Quantify the 'observability tax' of Deep Packet Inspection (</a:t>
            </a:r>
            <a:r>
              <a:rPr sz="1700" b="1">
                <a:solidFill>
                  <a:srgbClr val="075048"/>
                </a:solidFill>
                <a:latin typeface="Calibri"/>
              </a:rPr>
              <a:t>DPI</a:t>
            </a:r>
            <a:r>
              <a:rPr sz="1700" b="0">
                <a:solidFill>
                  <a:srgbClr val="1A1A1A"/>
                </a:solidFill>
                <a:latin typeface="Calibri"/>
              </a:rPr>
              <a:t>) in eBPF plugins.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