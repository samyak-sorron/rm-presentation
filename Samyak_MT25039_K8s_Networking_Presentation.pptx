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My presentation today evaluates the performance trade-offs of various Kubernetes networking plugins.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provide some context, while Kubernetes scales applications beautifully, the underlying network often struggles to keep up with the demands of modern data-intensive workloads.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that traditional overlay networks add a massive encapsulation tax. We are losing up to 50% of our bandwidth just by turning the CNI on, largely due to legacy iptables processing.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our literature survey evaluates three shifts: tuning the Linux kernel, deploying on stripped-down edge distributions, and utilizing eBPF to bypass the traditional networking stack entirely.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at the results, the chart shows Calico handles kernel optimizations incredibly well. However, for sheer latency, Flannel is surprisingly the winner, defying the assumption that encapsulation always slows response times.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edge, the results are counter-intuitive. Deploying a lightweight OS like K3s doesn't magically make your network lightweight. Complex plugins like Cilium actually consume more memory on edge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idle conditions, traditional iptables is actually faster. But under heavy stress, eBPF saves significant system resources—cutting CPU usage by 5% and saving 200MB of RAM, preventing cluster failure.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match the CNI to the use case. Future systems engineering research must look toward DPUs and SmartNICs to offload this routing overhead entirely. Thank you, I am open to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457200" cy="678484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725912" cy="2743200"/>
          </a:xfrm>
          <a:prstGeom prst="rect">
            <a:avLst/>
          </a:prstGeom>
          <a:noFill/>
        </p:spPr>
        <p:txBody>
          <a:bodyPr wrap="square">
            <a:spAutoFit/>
          </a:bodyPr>
          <a:lstStyle/>
          <a:p>
            <a:pPr algn="l"/>
            <a:r>
              <a:rPr sz="3300" b="1">
                <a:solidFill>
                  <a:srgbClr val="FFFFFF"/>
                </a:solidFill>
              </a:rPr>
              <a:t>Review of Literature on Performance and
Architectural Trade-offs in Kubernetes
Container Network Interfaces</a:t>
            </a:r>
          </a:p>
        </p:txBody>
      </p:sp>
      <p:sp>
        <p:nvSpPr>
          <p:cNvPr id="5" name="Rectangle 4"/>
          <p:cNvSpPr/>
          <p:nvPr/>
        </p:nvSpPr>
        <p:spPr>
          <a:xfrm>
            <a:off x="731520" y="4206240"/>
            <a:ext cx="10360152" cy="7315"/>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389120"/>
            <a:ext cx="10725912" cy="1645920"/>
          </a:xfrm>
          <a:prstGeom prst="rect">
            <a:avLst/>
          </a:prstGeom>
          <a:noFill/>
        </p:spPr>
        <p:txBody>
          <a:bodyPr wrap="square">
            <a:spAutoFit/>
          </a:bodyPr>
          <a:lstStyle/>
          <a:p>
            <a:pPr algn="l"/>
            <a:r>
              <a:rPr sz="1700" b="0">
                <a:solidFill>
                  <a:srgbClr val="ADC8E6"/>
                </a:solidFill>
              </a:rPr>
              <a:t>Samyak Kr Sharma  |  Roll No: MT25039  |  IIIT-Delhi  |  Research Methods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73152"/>
            <a:ext cx="12188952" cy="4114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332720" y="137160"/>
            <a:ext cx="1828800" cy="365760"/>
          </a:xfrm>
          <a:prstGeom prst="rect">
            <a:avLst/>
          </a:prstGeom>
          <a:solidFill>
            <a:srgbClr val="4FC3F7"/>
          </a:solidFill>
        </p:spPr>
        <p:txBody>
          <a:bodyPr wrap="none">
            <a:spAutoFit/>
          </a:bodyPr>
          <a:lstStyle/>
          <a:p>
            <a:pPr algn="ctr"/>
            <a:r>
              <a:rPr sz="1100" b="1">
                <a:solidFill>
                  <a:srgbClr val="0D1B2A"/>
                </a:solidFill>
              </a:rPr>
              <a:t>CONTEXT</a:t>
            </a:r>
          </a:p>
        </p:txBody>
      </p:sp>
      <p:sp>
        <p:nvSpPr>
          <p:cNvPr id="4" name="TextBox 3"/>
          <p:cNvSpPr txBox="1"/>
          <p:nvPr/>
        </p:nvSpPr>
        <p:spPr>
          <a:xfrm>
            <a:off x="457200" y="182880"/>
            <a:ext cx="11274552" cy="822960"/>
          </a:xfrm>
          <a:prstGeom prst="rect">
            <a:avLst/>
          </a:prstGeom>
          <a:noFill/>
        </p:spPr>
        <p:txBody>
          <a:bodyPr wrap="square">
            <a:spAutoFit/>
          </a:bodyPr>
          <a:lstStyle/>
          <a:p>
            <a:pPr algn="l"/>
            <a:r>
              <a:rPr b="0" i="0" sz="3000">
                <a:solidFill>
                  <a:srgbClr val="FFFFFF"/>
                </a:solidFill>
              </a:rPr>
              <a:t>Kubernetes Scales, But the </a:t>
            </a:r>
            <a:r>
              <a:rPr b="1" i="0" sz="3000">
                <a:solidFill>
                  <a:srgbClr val="FFD166"/>
                </a:solidFill>
              </a:rPr>
              <a:t>Network Lags</a:t>
            </a:r>
          </a:p>
        </p:txBody>
      </p:sp>
      <p:sp>
        <p:nvSpPr>
          <p:cNvPr id="5" name="Rectangle 4"/>
          <p:cNvSpPr/>
          <p:nvPr/>
        </p:nvSpPr>
        <p:spPr>
          <a:xfrm>
            <a:off x="457200" y="1051560"/>
            <a:ext cx="11274552" cy="7315"/>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20"/>
            <a:ext cx="11274552" cy="5029200"/>
          </a:xfrm>
          <a:prstGeom prst="rect">
            <a:avLst/>
          </a:prstGeom>
          <a:noFill/>
        </p:spPr>
        <p:txBody>
          <a:bodyPr wrap="square">
            <a:spAutoFit/>
          </a:bodyPr>
          <a:lstStyle/>
          <a:p>
            <a:pPr algn="l">
              <a:spcBef>
                <a:spcPts val="600"/>
              </a:spcBef>
              <a:spcAft>
                <a:spcPts val="0"/>
              </a:spcAft>
            </a:pPr>
            <a:r>
              <a:rPr sz="2000" b="0">
                <a:solidFill>
                  <a:srgbClr val="4FC3F7"/>
                </a:solidFill>
              </a:rPr>
              <a:t>▸  </a:t>
            </a:r>
            <a:r>
              <a:rPr b="1" i="0" sz="2200">
                <a:solidFill>
                  <a:srgbClr val="FFD166"/>
                </a:solidFill>
              </a:rPr>
              <a:t>Orchestration Standard:</a:t>
            </a:r>
            <a:r>
              <a:rPr b="0" i="0" sz="2200">
                <a:solidFill>
                  <a:srgbClr val="E0EAF6"/>
                </a:solidFill>
              </a:rPr>
              <a:t> Kubernetes orchestrates workloads from massive clouds to constrained edge environments.</a:t>
            </a:r>
          </a:p>
          <a:p>
            <a:pPr algn="l">
              <a:spcBef>
                <a:spcPts val="600"/>
              </a:spcBef>
              <a:spcAft>
                <a:spcPts val="0"/>
              </a:spcAft>
            </a:pPr>
            <a:r>
              <a:rPr sz="2000" b="0">
                <a:solidFill>
                  <a:srgbClr val="4FC3F7"/>
                </a:solidFill>
              </a:rPr>
              <a:t>▸  </a:t>
            </a:r>
            <a:r>
              <a:rPr b="1" i="0" sz="2200">
                <a:solidFill>
                  <a:srgbClr val="FFD166"/>
                </a:solidFill>
              </a:rPr>
              <a:t>The CNI Role:</a:t>
            </a:r>
            <a:r>
              <a:rPr b="0" i="0" sz="2200">
                <a:solidFill>
                  <a:srgbClr val="E0EAF6"/>
                </a:solidFill>
              </a:rPr>
              <a:t> The Container Network Interface (CNI) dictates all pod-to-node communication flows.</a:t>
            </a:r>
          </a:p>
          <a:p>
            <a:pPr algn="l">
              <a:spcBef>
                <a:spcPts val="600"/>
              </a:spcBef>
              <a:spcAft>
                <a:spcPts val="0"/>
              </a:spcAft>
            </a:pPr>
            <a:r>
              <a:rPr sz="2000" b="0">
                <a:solidFill>
                  <a:srgbClr val="4FC3F7"/>
                </a:solidFill>
              </a:rPr>
              <a:t>▸  </a:t>
            </a:r>
            <a:r>
              <a:rPr b="1" i="0" sz="2200">
                <a:solidFill>
                  <a:srgbClr val="FFD166"/>
                </a:solidFill>
              </a:rPr>
              <a:t>Evolving Demands:</a:t>
            </a:r>
            <a:r>
              <a:rPr b="0" i="0" sz="2200">
                <a:solidFill>
                  <a:srgbClr val="E0EAF6"/>
                </a:solidFill>
              </a:rPr>
              <a:t> Modern data-intensive workloads require microsecond latency and high throughput.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73152"/>
            <a:ext cx="12188952" cy="4114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0" y="137160"/>
            <a:ext cx="1828800" cy="365760"/>
          </a:xfrm>
          <a:prstGeom prst="rect">
            <a:avLst/>
          </a:prstGeom>
          <a:solidFill>
            <a:srgbClr val="4FC3F7"/>
          </a:solidFill>
        </p:spPr>
        <p:txBody>
          <a:bodyPr wrap="none">
            <a:spAutoFit/>
          </a:bodyPr>
          <a:lstStyle/>
          <a:p>
            <a:pPr algn="ctr"/>
            <a:r>
              <a:rPr sz="1100" b="1">
                <a:solidFill>
                  <a:srgbClr val="0D1B2A"/>
                </a:solidFill>
              </a:rPr>
              <a:t>THE PROBLEM</a:t>
            </a:r>
          </a:p>
        </p:txBody>
      </p:sp>
      <p:sp>
        <p:nvSpPr>
          <p:cNvPr id="4" name="TextBox 3"/>
          <p:cNvSpPr txBox="1"/>
          <p:nvPr/>
        </p:nvSpPr>
        <p:spPr>
          <a:xfrm>
            <a:off x="457200" y="182880"/>
            <a:ext cx="11274552" cy="822960"/>
          </a:xfrm>
          <a:prstGeom prst="rect">
            <a:avLst/>
          </a:prstGeom>
          <a:noFill/>
        </p:spPr>
        <p:txBody>
          <a:bodyPr wrap="square">
            <a:spAutoFit/>
          </a:bodyPr>
          <a:lstStyle/>
          <a:p>
            <a:pPr algn="l"/>
            <a:r>
              <a:rPr b="0" i="0" sz="3000">
                <a:solidFill>
                  <a:srgbClr val="FFFFFF"/>
                </a:solidFill>
              </a:rPr>
              <a:t>The Heavy Toll of </a:t>
            </a:r>
            <a:r>
              <a:rPr b="1" i="0" sz="3000">
                <a:solidFill>
                  <a:srgbClr val="FFD166"/>
                </a:solidFill>
              </a:rPr>
              <a:t>Traditional Network Overlays</a:t>
            </a:r>
          </a:p>
        </p:txBody>
      </p:sp>
      <p:sp>
        <p:nvSpPr>
          <p:cNvPr id="5" name="Rectangle 4"/>
          <p:cNvSpPr/>
          <p:nvPr/>
        </p:nvSpPr>
        <p:spPr>
          <a:xfrm>
            <a:off x="457200" y="1051560"/>
            <a:ext cx="11274552" cy="7315"/>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20"/>
            <a:ext cx="11274552" cy="5029200"/>
          </a:xfrm>
          <a:prstGeom prst="rect">
            <a:avLst/>
          </a:prstGeom>
          <a:noFill/>
        </p:spPr>
        <p:txBody>
          <a:bodyPr wrap="square">
            <a:spAutoFit/>
          </a:bodyPr>
          <a:lstStyle/>
          <a:p>
            <a:pPr algn="l">
              <a:spcBef>
                <a:spcPts val="600"/>
              </a:spcBef>
              <a:spcAft>
                <a:spcPts val="0"/>
              </a:spcAft>
            </a:pPr>
            <a:r>
              <a:rPr sz="2000" b="0">
                <a:solidFill>
                  <a:srgbClr val="4FC3F7"/>
                </a:solidFill>
              </a:rPr>
              <a:t>▸  </a:t>
            </a:r>
            <a:r>
              <a:rPr b="1" i="0" sz="2200">
                <a:solidFill>
                  <a:srgbClr val="FFD166"/>
                </a:solidFill>
              </a:rPr>
              <a:t>The Encapsulation Tax:</a:t>
            </a:r>
            <a:r>
              <a:rPr b="0" i="0" sz="2200">
                <a:solidFill>
                  <a:srgbClr val="E0EAF6"/>
                </a:solidFill>
              </a:rPr>
              <a:t> Standard CNIs cause a 40–50% bandwidth drop for UDP traffic (9000 MTU) vs. bare-metal networks.</a:t>
            </a:r>
          </a:p>
          <a:p>
            <a:pPr algn="l">
              <a:spcBef>
                <a:spcPts val="600"/>
              </a:spcBef>
              <a:spcAft>
                <a:spcPts val="0"/>
              </a:spcAft>
            </a:pPr>
            <a:r>
              <a:rPr sz="2000" b="0">
                <a:solidFill>
                  <a:srgbClr val="4FC3F7"/>
                </a:solidFill>
              </a:rPr>
              <a:t>▸  </a:t>
            </a:r>
            <a:r>
              <a:rPr b="1" i="0" sz="2200">
                <a:solidFill>
                  <a:srgbClr val="FFD166"/>
                </a:solidFill>
              </a:rPr>
              <a:t>Legacy Frameworks:</a:t>
            </a:r>
            <a:r>
              <a:rPr b="0" i="0" sz="2200">
                <a:solidFill>
                  <a:srgbClr val="E0EAF6"/>
                </a:solidFill>
              </a:rPr>
              <a:t> Traditional overlays rely on older, sequential Linux kernel frameworks like iptables.</a:t>
            </a:r>
          </a:p>
          <a:p>
            <a:pPr algn="l">
              <a:spcBef>
                <a:spcPts val="600"/>
              </a:spcBef>
              <a:spcAft>
                <a:spcPts val="0"/>
              </a:spcAft>
            </a:pPr>
            <a:r>
              <a:rPr sz="2000" b="0">
                <a:solidFill>
                  <a:srgbClr val="4FC3F7"/>
                </a:solidFill>
              </a:rPr>
              <a:t>▸  </a:t>
            </a:r>
            <a:r>
              <a:rPr b="1" i="0" sz="2200">
                <a:solidFill>
                  <a:srgbClr val="FFD166"/>
                </a:solidFill>
              </a:rPr>
              <a:t>Edge Inefficiency:</a:t>
            </a:r>
            <a:r>
              <a:rPr b="0" i="0" sz="2200">
                <a:solidFill>
                  <a:srgbClr val="E0EAF6"/>
                </a:solidFill>
              </a:rPr>
              <a:t> Deploying these plugins on constrained hardware yields problematic resource footprints.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73152"/>
            <a:ext cx="12188952" cy="4114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332720" y="137160"/>
            <a:ext cx="1828800" cy="365760"/>
          </a:xfrm>
          <a:prstGeom prst="rect">
            <a:avLst/>
          </a:prstGeom>
          <a:solidFill>
            <a:srgbClr val="4FC3F7"/>
          </a:solidFill>
        </p:spPr>
        <p:txBody>
          <a:bodyPr wrap="none">
            <a:spAutoFit/>
          </a:bodyPr>
          <a:lstStyle/>
          <a:p>
            <a:pPr algn="ctr"/>
            <a:r>
              <a:rPr sz="1100" b="1">
                <a:solidFill>
                  <a:srgbClr val="0D1B2A"/>
                </a:solidFill>
              </a:rPr>
              <a:t>SOLUTION</a:t>
            </a:r>
          </a:p>
        </p:txBody>
      </p:sp>
      <p:sp>
        <p:nvSpPr>
          <p:cNvPr id="4" name="TextBox 3"/>
          <p:cNvSpPr txBox="1"/>
          <p:nvPr/>
        </p:nvSpPr>
        <p:spPr>
          <a:xfrm>
            <a:off x="457200" y="182880"/>
            <a:ext cx="11274552" cy="822960"/>
          </a:xfrm>
          <a:prstGeom prst="rect">
            <a:avLst/>
          </a:prstGeom>
          <a:noFill/>
        </p:spPr>
        <p:txBody>
          <a:bodyPr wrap="square">
            <a:spAutoFit/>
          </a:bodyPr>
          <a:lstStyle/>
          <a:p>
            <a:pPr algn="l"/>
            <a:r>
              <a:rPr b="0" i="0" sz="3000">
                <a:solidFill>
                  <a:srgbClr val="FFFFFF"/>
                </a:solidFill>
              </a:rPr>
              <a:t>Evaluating </a:t>
            </a:r>
            <a:r>
              <a:rPr b="1" i="0" sz="3000">
                <a:solidFill>
                  <a:srgbClr val="FFD166"/>
                </a:solidFill>
              </a:rPr>
              <a:t>Modern Routing</a:t>
            </a:r>
            <a:r>
              <a:rPr b="0" i="0" sz="3000">
                <a:solidFill>
                  <a:srgbClr val="FFFFFF"/>
                </a:solidFill>
              </a:rPr>
              <a:t> and </a:t>
            </a:r>
            <a:r>
              <a:rPr b="1" i="0" sz="3000">
                <a:solidFill>
                  <a:srgbClr val="FFD166"/>
                </a:solidFill>
              </a:rPr>
              <a:t>eBPF</a:t>
            </a:r>
            <a:r>
              <a:rPr b="0" i="0" sz="3000">
                <a:solidFill>
                  <a:srgbClr val="FFFFFF"/>
                </a:solidFill>
              </a:rPr>
              <a:t> Alternatives</a:t>
            </a:r>
          </a:p>
        </p:txBody>
      </p:sp>
      <p:sp>
        <p:nvSpPr>
          <p:cNvPr id="5" name="Rectangle 4"/>
          <p:cNvSpPr/>
          <p:nvPr/>
        </p:nvSpPr>
        <p:spPr>
          <a:xfrm>
            <a:off x="457200" y="1051560"/>
            <a:ext cx="11274552" cy="7315"/>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20"/>
            <a:ext cx="11274552" cy="5029200"/>
          </a:xfrm>
          <a:prstGeom prst="rect">
            <a:avLst/>
          </a:prstGeom>
          <a:noFill/>
        </p:spPr>
        <p:txBody>
          <a:bodyPr wrap="square">
            <a:spAutoFit/>
          </a:bodyPr>
          <a:lstStyle/>
          <a:p>
            <a:pPr algn="l">
              <a:spcBef>
                <a:spcPts val="600"/>
              </a:spcBef>
              <a:spcAft>
                <a:spcPts val="0"/>
              </a:spcAft>
            </a:pPr>
            <a:r>
              <a:rPr sz="2000" b="0">
                <a:solidFill>
                  <a:srgbClr val="4FC3F7"/>
                </a:solidFill>
              </a:rPr>
              <a:t>▸  </a:t>
            </a:r>
            <a:r>
              <a:rPr b="1" i="0" sz="2200">
                <a:solidFill>
                  <a:srgbClr val="FFD166"/>
                </a:solidFill>
              </a:rPr>
              <a:t>System Tuning:</a:t>
            </a:r>
            <a:r>
              <a:rPr b="0" i="0" sz="2200">
                <a:solidFill>
                  <a:srgbClr val="E0EAF6"/>
                </a:solidFill>
              </a:rPr>
              <a:t> Measuring bandwidth recovery through custom kernel-level TCP/UDP optimizations.</a:t>
            </a:r>
          </a:p>
          <a:p>
            <a:pPr algn="l">
              <a:spcBef>
                <a:spcPts val="600"/>
              </a:spcBef>
              <a:spcAft>
                <a:spcPts val="0"/>
              </a:spcAft>
            </a:pPr>
            <a:r>
              <a:rPr sz="2000" b="0">
                <a:solidFill>
                  <a:srgbClr val="4FC3F7"/>
                </a:solidFill>
              </a:rPr>
              <a:t>▸  </a:t>
            </a:r>
            <a:r>
              <a:rPr b="1" i="0" sz="2200">
                <a:solidFill>
                  <a:srgbClr val="FFD166"/>
                </a:solidFill>
              </a:rPr>
              <a:t>Edge Distributions:</a:t>
            </a:r>
            <a:r>
              <a:rPr b="0" i="0" sz="2200">
                <a:solidFill>
                  <a:srgbClr val="E0EAF6"/>
                </a:solidFill>
              </a:rPr>
              <a:t> Quantifying RAM/CPU footprints of complex CNIs on lightweight OSs (K3s, MicroK8s).</a:t>
            </a:r>
          </a:p>
          <a:p>
            <a:pPr algn="l">
              <a:spcBef>
                <a:spcPts val="600"/>
              </a:spcBef>
              <a:spcAft>
                <a:spcPts val="0"/>
              </a:spcAft>
            </a:pPr>
            <a:r>
              <a:rPr sz="2000" b="0">
                <a:solidFill>
                  <a:srgbClr val="4FC3F7"/>
                </a:solidFill>
              </a:rPr>
              <a:t>▸  </a:t>
            </a:r>
            <a:r>
              <a:rPr b="1" i="0" sz="2200">
                <a:solidFill>
                  <a:srgbClr val="FFD166"/>
                </a:solidFill>
              </a:rPr>
              <a:t>eBPF Data Planes:</a:t>
            </a:r>
            <a:r>
              <a:rPr b="0" i="0" sz="2200">
                <a:solidFill>
                  <a:srgbClr val="E0EAF6"/>
                </a:solidFill>
              </a:rPr>
              <a:t> Analyzing technologies (like Cilium) that bypass kube-proxy by running programs directly in the kernel.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73152"/>
            <a:ext cx="12188952" cy="4114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0" y="137160"/>
            <a:ext cx="1828800" cy="365760"/>
          </a:xfrm>
          <a:prstGeom prst="rect">
            <a:avLst/>
          </a:prstGeom>
          <a:solidFill>
            <a:srgbClr val="4FC3F7"/>
          </a:solidFill>
        </p:spPr>
        <p:txBody>
          <a:bodyPr wrap="none">
            <a:spAutoFit/>
          </a:bodyPr>
          <a:lstStyle/>
          <a:p>
            <a:pPr algn="ctr"/>
            <a:r>
              <a:rPr sz="1100" b="1">
                <a:solidFill>
                  <a:srgbClr val="0D1B2A"/>
                </a:solidFill>
              </a:rPr>
              <a:t>RESULTS 1/3</a:t>
            </a:r>
          </a:p>
        </p:txBody>
      </p:sp>
      <p:sp>
        <p:nvSpPr>
          <p:cNvPr id="4" name="TextBox 3"/>
          <p:cNvSpPr txBox="1"/>
          <p:nvPr/>
        </p:nvSpPr>
        <p:spPr>
          <a:xfrm>
            <a:off x="457200" y="182880"/>
            <a:ext cx="11274552" cy="822960"/>
          </a:xfrm>
          <a:prstGeom prst="rect">
            <a:avLst/>
          </a:prstGeom>
          <a:noFill/>
        </p:spPr>
        <p:txBody>
          <a:bodyPr wrap="square">
            <a:spAutoFit/>
          </a:bodyPr>
          <a:lstStyle/>
          <a:p>
            <a:pPr algn="l"/>
            <a:r>
              <a:rPr b="1" i="0" sz="2800">
                <a:solidFill>
                  <a:srgbClr val="FFD166"/>
                </a:solidFill>
              </a:rPr>
              <a:t>Calico</a:t>
            </a:r>
            <a:r>
              <a:rPr b="0" i="0" sz="2800">
                <a:solidFill>
                  <a:srgbClr val="FFFFFF"/>
                </a:solidFill>
              </a:rPr>
              <a:t> Thrives on Tuning, </a:t>
            </a:r>
            <a:r>
              <a:rPr b="1" i="0" sz="2800">
                <a:solidFill>
                  <a:srgbClr val="FFD166"/>
                </a:solidFill>
              </a:rPr>
              <a:t>Flannel</a:t>
            </a:r>
            <a:r>
              <a:rPr b="0" i="0" sz="2800">
                <a:solidFill>
                  <a:srgbClr val="FFFFFF"/>
                </a:solidFill>
              </a:rPr>
              <a:t> Wins on Latency</a:t>
            </a:r>
          </a:p>
        </p:txBody>
      </p:sp>
      <p:sp>
        <p:nvSpPr>
          <p:cNvPr id="5" name="Rectangle 4"/>
          <p:cNvSpPr/>
          <p:nvPr/>
        </p:nvSpPr>
        <p:spPr>
          <a:xfrm>
            <a:off x="457200" y="1051560"/>
            <a:ext cx="11274552" cy="7315"/>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ndwidth_chart.png"/>
          <p:cNvPicPr>
            <a:picLocks noChangeAspect="1"/>
          </p:cNvPicPr>
          <p:nvPr/>
        </p:nvPicPr>
        <p:blipFill>
          <a:blip r:embed="rId2"/>
          <a:stretch>
            <a:fillRect/>
          </a:stretch>
        </p:blipFill>
        <p:spPr>
          <a:xfrm>
            <a:off x="365760" y="1143000"/>
            <a:ext cx="6675120" cy="5120640"/>
          </a:xfrm>
          <a:prstGeom prst="rect">
            <a:avLst/>
          </a:prstGeom>
        </p:spPr>
      </p:pic>
      <p:sp>
        <p:nvSpPr>
          <p:cNvPr id="7" name="TextBox 6"/>
          <p:cNvSpPr txBox="1"/>
          <p:nvPr/>
        </p:nvSpPr>
        <p:spPr>
          <a:xfrm>
            <a:off x="7315200" y="1188720"/>
            <a:ext cx="4480560" cy="5029200"/>
          </a:xfrm>
          <a:prstGeom prst="rect">
            <a:avLst/>
          </a:prstGeom>
          <a:noFill/>
        </p:spPr>
        <p:txBody>
          <a:bodyPr wrap="square">
            <a:spAutoFit/>
          </a:bodyPr>
          <a:lstStyle/>
          <a:p>
            <a:pPr algn="l">
              <a:spcBef>
                <a:spcPts val="600"/>
              </a:spcBef>
              <a:spcAft>
                <a:spcPts val="0"/>
              </a:spcAft>
            </a:pPr>
            <a:r>
              <a:rPr sz="1600" b="0">
                <a:solidFill>
                  <a:srgbClr val="4FC3F7"/>
                </a:solidFill>
              </a:rPr>
              <a:t>▸  </a:t>
            </a:r>
            <a:r>
              <a:rPr b="1" i="0" sz="1800">
                <a:solidFill>
                  <a:srgbClr val="FFD166"/>
                </a:solidFill>
              </a:rPr>
              <a:t>Throughput:</a:t>
            </a:r>
            <a:r>
              <a:rPr b="0" i="0" sz="1800">
                <a:solidFill>
                  <a:srgbClr val="E0EAF6"/>
                </a:solidFill>
              </a:rPr>
              <a:t> Kernel optimizations allow direct-routing CNIs (Calico) to recover ~2 Gbit/s of bandwidth.</a:t>
            </a:r>
          </a:p>
          <a:p>
            <a:pPr algn="l">
              <a:spcBef>
                <a:spcPts val="600"/>
              </a:spcBef>
              <a:spcAft>
                <a:spcPts val="0"/>
              </a:spcAft>
            </a:pPr>
            <a:r>
              <a:rPr sz="1600" b="0">
                <a:solidFill>
                  <a:srgbClr val="4FC3F7"/>
                </a:solidFill>
              </a:rPr>
              <a:t>▸  </a:t>
            </a:r>
            <a:r>
              <a:rPr b="1" i="0" sz="1800">
                <a:solidFill>
                  <a:srgbClr val="FFD166"/>
                </a:solidFill>
              </a:rPr>
              <a:t>Latency:</a:t>
            </a:r>
            <a:r>
              <a:rPr b="0" i="0" sz="1800">
                <a:solidFill>
                  <a:srgbClr val="E0EAF6"/>
                </a:solidFill>
              </a:rPr>
              <a:t> Flannel exhibits the </a:t>
            </a:r>
            <a:r>
              <a:rPr b="1" i="0" sz="1800">
                <a:solidFill>
                  <a:srgbClr val="FFD166"/>
                </a:solidFill>
              </a:rPr>
              <a:t>lowest latency overhead</a:t>
            </a:r>
            <a:r>
              <a:rPr b="0" i="0" sz="1800">
                <a:solidFill>
                  <a:srgbClr val="E0EAF6"/>
                </a:solidFill>
              </a:rPr>
              <a:t> (20% faster than peers), despite using VXLAN encapsulation.</a:t>
            </a:r>
          </a:p>
        </p:txBody>
      </p:sp>
      <p:sp>
        <p:nvSpPr>
          <p:cNvPr id="8" name="TextBox 7"/>
          <p:cNvSpPr txBox="1"/>
          <p:nvPr/>
        </p:nvSpPr>
        <p:spPr>
          <a:xfrm>
            <a:off x="365760" y="6309360"/>
            <a:ext cx="6675120" cy="274320"/>
          </a:xfrm>
          <a:prstGeom prst="rect">
            <a:avLst/>
          </a:prstGeom>
          <a:noFill/>
        </p:spPr>
        <p:txBody>
          <a:bodyPr wrap="none">
            <a:spAutoFit/>
          </a:bodyPr>
          <a:lstStyle/>
          <a:p>
            <a:pPr algn="ctr"/>
            <a:r>
              <a:rPr sz="1000" i="1">
                <a:solidFill>
                  <a:srgbClr val="ADC8E6"/>
                </a:solidFill>
              </a:rPr>
              <a:t>Fig. 1 – TCP Bandwidth Efficiency Comparison across CNI Plugins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73152"/>
            <a:ext cx="12188952" cy="4114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0" y="137160"/>
            <a:ext cx="1828800" cy="365760"/>
          </a:xfrm>
          <a:prstGeom prst="rect">
            <a:avLst/>
          </a:prstGeom>
          <a:solidFill>
            <a:srgbClr val="4FC3F7"/>
          </a:solidFill>
        </p:spPr>
        <p:txBody>
          <a:bodyPr wrap="none">
            <a:spAutoFit/>
          </a:bodyPr>
          <a:lstStyle/>
          <a:p>
            <a:pPr algn="ctr"/>
            <a:r>
              <a:rPr sz="1100" b="1">
                <a:solidFill>
                  <a:srgbClr val="0D1B2A"/>
                </a:solidFill>
              </a:rPr>
              <a:t>RESULTS 2/3</a:t>
            </a:r>
          </a:p>
        </p:txBody>
      </p:sp>
      <p:sp>
        <p:nvSpPr>
          <p:cNvPr id="4" name="TextBox 3"/>
          <p:cNvSpPr txBox="1"/>
          <p:nvPr/>
        </p:nvSpPr>
        <p:spPr>
          <a:xfrm>
            <a:off x="457200" y="182880"/>
            <a:ext cx="11274552" cy="822960"/>
          </a:xfrm>
          <a:prstGeom prst="rect">
            <a:avLst/>
          </a:prstGeom>
          <a:noFill/>
        </p:spPr>
        <p:txBody>
          <a:bodyPr wrap="square">
            <a:spAutoFit/>
          </a:bodyPr>
          <a:lstStyle/>
          <a:p>
            <a:pPr algn="l"/>
            <a:r>
              <a:rPr b="0" i="0" sz="2800">
                <a:solidFill>
                  <a:srgbClr val="FFFFFF"/>
                </a:solidFill>
              </a:rPr>
              <a:t>Lightweight OS Does </a:t>
            </a:r>
            <a:r>
              <a:rPr b="1" i="0" sz="2800">
                <a:solidFill>
                  <a:srgbClr val="FFD166"/>
                </a:solidFill>
              </a:rPr>
              <a:t>Not</a:t>
            </a:r>
            <a:r>
              <a:rPr b="0" i="0" sz="2800">
                <a:solidFill>
                  <a:srgbClr val="FFFFFF"/>
                </a:solidFill>
              </a:rPr>
              <a:t> Mean Lightweight CNI</a:t>
            </a:r>
          </a:p>
        </p:txBody>
      </p:sp>
      <p:sp>
        <p:nvSpPr>
          <p:cNvPr id="5" name="Rectangle 4"/>
          <p:cNvSpPr/>
          <p:nvPr/>
        </p:nvSpPr>
        <p:spPr>
          <a:xfrm>
            <a:off x="457200" y="1051560"/>
            <a:ext cx="11274552" cy="7315"/>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_ram_grid.png"/>
          <p:cNvPicPr>
            <a:picLocks noChangeAspect="1"/>
          </p:cNvPicPr>
          <p:nvPr/>
        </p:nvPicPr>
        <p:blipFill>
          <a:blip r:embed="rId2"/>
          <a:stretch>
            <a:fillRect/>
          </a:stretch>
        </p:blipFill>
        <p:spPr>
          <a:xfrm>
            <a:off x="365760" y="1143000"/>
            <a:ext cx="6492240" cy="5074920"/>
          </a:xfrm>
          <a:prstGeom prst="rect">
            <a:avLst/>
          </a:prstGeom>
        </p:spPr>
      </p:pic>
      <p:sp>
        <p:nvSpPr>
          <p:cNvPr id="7" name="TextBox 6"/>
          <p:cNvSpPr txBox="1"/>
          <p:nvPr/>
        </p:nvSpPr>
        <p:spPr>
          <a:xfrm>
            <a:off x="7132320" y="1188720"/>
            <a:ext cx="4663440" cy="5029200"/>
          </a:xfrm>
          <a:prstGeom prst="rect">
            <a:avLst/>
          </a:prstGeom>
          <a:noFill/>
        </p:spPr>
        <p:txBody>
          <a:bodyPr wrap="square">
            <a:spAutoFit/>
          </a:bodyPr>
          <a:lstStyle/>
          <a:p>
            <a:pPr algn="l">
              <a:spcBef>
                <a:spcPts val="600"/>
              </a:spcBef>
              <a:spcAft>
                <a:spcPts val="0"/>
              </a:spcAft>
            </a:pPr>
            <a:r>
              <a:rPr sz="1600" b="0">
                <a:solidFill>
                  <a:srgbClr val="4FC3F7"/>
                </a:solidFill>
              </a:rPr>
              <a:t>▸  </a:t>
            </a:r>
            <a:r>
              <a:rPr b="1" i="0" sz="1800">
                <a:solidFill>
                  <a:srgbClr val="FFD166"/>
                </a:solidFill>
              </a:rPr>
              <a:t>CPU Stability:</a:t>
            </a:r>
            <a:r>
              <a:rPr b="0" i="0" sz="1800">
                <a:solidFill>
                  <a:srgbClr val="E0EAF6"/>
                </a:solidFill>
              </a:rPr>
              <a:t> CPU utilization remains largely static across vanilla and edge Kubernetes distributions.</a:t>
            </a:r>
          </a:p>
          <a:p>
            <a:pPr algn="l">
              <a:spcBef>
                <a:spcPts val="600"/>
              </a:spcBef>
              <a:spcAft>
                <a:spcPts val="0"/>
              </a:spcAft>
            </a:pPr>
            <a:r>
              <a:rPr sz="1600" b="0">
                <a:solidFill>
                  <a:srgbClr val="4FC3F7"/>
                </a:solidFill>
              </a:rPr>
              <a:t>▸  </a:t>
            </a:r>
            <a:r>
              <a:rPr b="1" i="0" sz="1800">
                <a:solidFill>
                  <a:srgbClr val="FFD166"/>
                </a:solidFill>
              </a:rPr>
              <a:t>RAM Penalty:</a:t>
            </a:r>
            <a:r>
              <a:rPr b="0" i="0" sz="1800">
                <a:solidFill>
                  <a:srgbClr val="E0EAF6"/>
                </a:solidFill>
              </a:rPr>
              <a:t> Flannel reduces RAM usage by </a:t>
            </a:r>
            <a:r>
              <a:rPr b="1" i="0" sz="1800">
                <a:solidFill>
                  <a:srgbClr val="FFD166"/>
                </a:solidFill>
              </a:rPr>
              <a:t>28%</a:t>
            </a:r>
            <a:r>
              <a:rPr b="0" i="0" sz="1800">
                <a:solidFill>
                  <a:srgbClr val="E0EAF6"/>
                </a:solidFill>
              </a:rPr>
              <a:t> in K3s, but complex plugins (Cilium) see a </a:t>
            </a:r>
            <a:r>
              <a:rPr b="1" i="0" sz="1800">
                <a:solidFill>
                  <a:srgbClr val="FFD166"/>
                </a:solidFill>
              </a:rPr>
              <a:t>14% memory increase</a:t>
            </a:r>
            <a:r>
              <a:rPr b="0" i="0" sz="1800">
                <a:solidFill>
                  <a:srgbClr val="E0EAF6"/>
                </a:solidFill>
              </a:rPr>
              <a:t>.</a:t>
            </a:r>
          </a:p>
        </p:txBody>
      </p:sp>
      <p:sp>
        <p:nvSpPr>
          <p:cNvPr id="8" name="TextBox 7"/>
          <p:cNvSpPr txBox="1"/>
          <p:nvPr/>
        </p:nvSpPr>
        <p:spPr>
          <a:xfrm>
            <a:off x="365760" y="6263640"/>
            <a:ext cx="6492240" cy="274320"/>
          </a:xfrm>
          <a:prstGeom prst="rect">
            <a:avLst/>
          </a:prstGeom>
          <a:noFill/>
        </p:spPr>
        <p:txBody>
          <a:bodyPr wrap="none">
            <a:spAutoFit/>
          </a:bodyPr>
          <a:lstStyle/>
          <a:p>
            <a:pPr algn="ctr"/>
            <a:r>
              <a:rPr sz="1000" i="1">
                <a:solidFill>
                  <a:srgbClr val="ADC8E6"/>
                </a:solidFill>
              </a:rPr>
              <a:t>Fig. 2 – CPU and RAM Utilization across Vanilla and Edge K8s Distributions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73152"/>
            <a:ext cx="12188952" cy="4114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0" y="137160"/>
            <a:ext cx="1828800" cy="365760"/>
          </a:xfrm>
          <a:prstGeom prst="rect">
            <a:avLst/>
          </a:prstGeom>
          <a:solidFill>
            <a:srgbClr val="4FC3F7"/>
          </a:solidFill>
        </p:spPr>
        <p:txBody>
          <a:bodyPr wrap="none">
            <a:spAutoFit/>
          </a:bodyPr>
          <a:lstStyle/>
          <a:p>
            <a:pPr algn="ctr"/>
            <a:r>
              <a:rPr sz="1100" b="1">
                <a:solidFill>
                  <a:srgbClr val="0D1B2A"/>
                </a:solidFill>
              </a:rPr>
              <a:t>RESULTS 3/3</a:t>
            </a:r>
          </a:p>
        </p:txBody>
      </p:sp>
      <p:sp>
        <p:nvSpPr>
          <p:cNvPr id="4" name="TextBox 3"/>
          <p:cNvSpPr txBox="1"/>
          <p:nvPr/>
        </p:nvSpPr>
        <p:spPr>
          <a:xfrm>
            <a:off x="457200" y="182880"/>
            <a:ext cx="11274552" cy="822960"/>
          </a:xfrm>
          <a:prstGeom prst="rect">
            <a:avLst/>
          </a:prstGeom>
          <a:noFill/>
        </p:spPr>
        <p:txBody>
          <a:bodyPr wrap="square">
            <a:spAutoFit/>
          </a:bodyPr>
          <a:lstStyle/>
          <a:p>
            <a:pPr algn="l"/>
            <a:r>
              <a:rPr b="1" i="0" sz="2800">
                <a:solidFill>
                  <a:srgbClr val="FFD166"/>
                </a:solidFill>
              </a:rPr>
              <a:t>eBPF</a:t>
            </a:r>
            <a:r>
              <a:rPr b="0" i="0" sz="2800">
                <a:solidFill>
                  <a:srgbClr val="FFFFFF"/>
                </a:solidFill>
              </a:rPr>
              <a:t> Maximizes Resource Efficiency Under Load</a:t>
            </a:r>
          </a:p>
        </p:txBody>
      </p:sp>
      <p:sp>
        <p:nvSpPr>
          <p:cNvPr id="5" name="Rectangle 4"/>
          <p:cNvSpPr/>
          <p:nvPr/>
        </p:nvSpPr>
        <p:spPr>
          <a:xfrm>
            <a:off x="457200" y="1051560"/>
            <a:ext cx="11274552" cy="7315"/>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bles_section.png"/>
          <p:cNvPicPr>
            <a:picLocks noChangeAspect="1"/>
          </p:cNvPicPr>
          <p:nvPr/>
        </p:nvPicPr>
        <p:blipFill>
          <a:blip r:embed="rId2"/>
          <a:stretch>
            <a:fillRect/>
          </a:stretch>
        </p:blipFill>
        <p:spPr>
          <a:xfrm>
            <a:off x="365760" y="1143000"/>
            <a:ext cx="6492240" cy="5074920"/>
          </a:xfrm>
          <a:prstGeom prst="rect">
            <a:avLst/>
          </a:prstGeom>
        </p:spPr>
      </p:pic>
      <p:sp>
        <p:nvSpPr>
          <p:cNvPr id="7" name="TextBox 6"/>
          <p:cNvSpPr txBox="1"/>
          <p:nvPr/>
        </p:nvSpPr>
        <p:spPr>
          <a:xfrm>
            <a:off x="7132320" y="1188720"/>
            <a:ext cx="4663440" cy="5029200"/>
          </a:xfrm>
          <a:prstGeom prst="rect">
            <a:avLst/>
          </a:prstGeom>
          <a:noFill/>
        </p:spPr>
        <p:txBody>
          <a:bodyPr wrap="square">
            <a:spAutoFit/>
          </a:bodyPr>
          <a:lstStyle/>
          <a:p>
            <a:pPr algn="l">
              <a:spcBef>
                <a:spcPts val="600"/>
              </a:spcBef>
              <a:spcAft>
                <a:spcPts val="0"/>
              </a:spcAft>
            </a:pPr>
            <a:r>
              <a:rPr sz="1600" b="0">
                <a:solidFill>
                  <a:srgbClr val="4FC3F7"/>
                </a:solidFill>
              </a:rPr>
              <a:t>▸  </a:t>
            </a:r>
            <a:r>
              <a:rPr b="1" i="0" sz="1800">
                <a:solidFill>
                  <a:srgbClr val="FFD166"/>
                </a:solidFill>
              </a:rPr>
              <a:t>Idle State:</a:t>
            </a:r>
            <a:r>
              <a:rPr b="0" i="0" sz="1800">
                <a:solidFill>
                  <a:srgbClr val="E0EAF6"/>
                </a:solidFill>
              </a:rPr>
              <a:t> Traditional iptables achieves higher throughput (</a:t>
            </a:r>
            <a:r>
              <a:rPr b="1" i="0" sz="1800">
                <a:solidFill>
                  <a:srgbClr val="FFD166"/>
                </a:solidFill>
              </a:rPr>
              <a:t>7850 Mbps</a:t>
            </a:r>
            <a:r>
              <a:rPr b="0" i="0" sz="1800">
                <a:solidFill>
                  <a:srgbClr val="E0EAF6"/>
                </a:solidFill>
              </a:rPr>
              <a:t>) when cluster is unloaded.</a:t>
            </a:r>
          </a:p>
          <a:p>
            <a:pPr algn="l">
              <a:spcBef>
                <a:spcPts val="600"/>
              </a:spcBef>
              <a:spcAft>
                <a:spcPts val="0"/>
              </a:spcAft>
            </a:pPr>
            <a:r>
              <a:rPr sz="1600" b="0">
                <a:solidFill>
                  <a:srgbClr val="4FC3F7"/>
                </a:solidFill>
              </a:rPr>
              <a:t>▸  </a:t>
            </a:r>
            <a:r>
              <a:rPr b="1" i="0" sz="1800">
                <a:solidFill>
                  <a:srgbClr val="FFD166"/>
                </a:solidFill>
              </a:rPr>
              <a:t>Production Load:</a:t>
            </a:r>
            <a:r>
              <a:rPr b="0" i="0" sz="1800">
                <a:solidFill>
                  <a:srgbClr val="E0EAF6"/>
                </a:solidFill>
              </a:rPr>
              <a:t> Under heavy stress, eBPF cuts </a:t>
            </a:r>
            <a:r>
              <a:rPr b="1" i="0" sz="1800">
                <a:solidFill>
                  <a:srgbClr val="FFD166"/>
                </a:solidFill>
              </a:rPr>
              <a:t>CPU usage by ~5%</a:t>
            </a:r>
            <a:r>
              <a:rPr b="0" i="0" sz="1800">
                <a:solidFill>
                  <a:srgbClr val="E0EAF6"/>
                </a:solidFill>
              </a:rPr>
              <a:t> and saves nearly </a:t>
            </a:r>
            <a:r>
              <a:rPr b="1" i="0" sz="1800">
                <a:solidFill>
                  <a:srgbClr val="FFD166"/>
                </a:solidFill>
              </a:rPr>
              <a:t>200 MB</a:t>
            </a:r>
            <a:r>
              <a:rPr b="0" i="0" sz="1800">
                <a:solidFill>
                  <a:srgbClr val="E0EAF6"/>
                </a:solidFill>
              </a:rPr>
              <a:t> of RAM.</a:t>
            </a:r>
          </a:p>
        </p:txBody>
      </p:sp>
      <p:sp>
        <p:nvSpPr>
          <p:cNvPr id="8" name="TextBox 7"/>
          <p:cNvSpPr txBox="1"/>
          <p:nvPr/>
        </p:nvSpPr>
        <p:spPr>
          <a:xfrm>
            <a:off x="365760" y="6263640"/>
            <a:ext cx="6492240" cy="274320"/>
          </a:xfrm>
          <a:prstGeom prst="rect">
            <a:avLst/>
          </a:prstGeom>
          <a:noFill/>
        </p:spPr>
        <p:txBody>
          <a:bodyPr wrap="none">
            <a:spAutoFit/>
          </a:bodyPr>
          <a:lstStyle/>
          <a:p>
            <a:pPr algn="ctr"/>
            <a:r>
              <a:rPr sz="1000" i="1">
                <a:solidFill>
                  <a:srgbClr val="ADC8E6"/>
                </a:solidFill>
              </a:rPr>
              <a:t>Table 1–4 – iptables vs. eBPF Performance: Unloaded and Loaded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73152"/>
            <a:ext cx="12188952" cy="41148"/>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332720" y="137160"/>
            <a:ext cx="1828800" cy="365760"/>
          </a:xfrm>
          <a:prstGeom prst="rect">
            <a:avLst/>
          </a:prstGeom>
          <a:solidFill>
            <a:srgbClr val="4FC3F7"/>
          </a:solidFill>
        </p:spPr>
        <p:txBody>
          <a:bodyPr wrap="none">
            <a:spAutoFit/>
          </a:bodyPr>
          <a:lstStyle/>
          <a:p>
            <a:pPr algn="ctr"/>
            <a:r>
              <a:rPr sz="1100" b="1">
                <a:solidFill>
                  <a:srgbClr val="0D1B2A"/>
                </a:solidFill>
              </a:rPr>
              <a:t>SUMMARY</a:t>
            </a:r>
          </a:p>
        </p:txBody>
      </p:sp>
      <p:sp>
        <p:nvSpPr>
          <p:cNvPr id="4" name="TextBox 3"/>
          <p:cNvSpPr txBox="1"/>
          <p:nvPr/>
        </p:nvSpPr>
        <p:spPr>
          <a:xfrm>
            <a:off x="457200" y="182880"/>
            <a:ext cx="11274552" cy="822960"/>
          </a:xfrm>
          <a:prstGeom prst="rect">
            <a:avLst/>
          </a:prstGeom>
          <a:noFill/>
        </p:spPr>
        <p:txBody>
          <a:bodyPr wrap="square">
            <a:spAutoFit/>
          </a:bodyPr>
          <a:lstStyle/>
          <a:p>
            <a:pPr algn="l"/>
            <a:r>
              <a:rPr b="0" i="0" sz="3000">
                <a:solidFill>
                  <a:srgbClr val="FFFFFF"/>
                </a:solidFill>
              </a:rPr>
              <a:t>Aligning </a:t>
            </a:r>
            <a:r>
              <a:rPr b="1" i="0" sz="3000">
                <a:solidFill>
                  <a:srgbClr val="FFD166"/>
                </a:solidFill>
              </a:rPr>
              <a:t>CNI Architecture</a:t>
            </a:r>
            <a:r>
              <a:rPr b="0" i="0" sz="3000">
                <a:solidFill>
                  <a:srgbClr val="FFFFFF"/>
                </a:solidFill>
              </a:rPr>
              <a:t> to Deployment Needs</a:t>
            </a:r>
          </a:p>
        </p:txBody>
      </p:sp>
      <p:sp>
        <p:nvSpPr>
          <p:cNvPr id="5" name="Rectangle 4"/>
          <p:cNvSpPr/>
          <p:nvPr/>
        </p:nvSpPr>
        <p:spPr>
          <a:xfrm>
            <a:off x="457200" y="1051560"/>
            <a:ext cx="11274552" cy="7315"/>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20"/>
            <a:ext cx="11274552" cy="5029200"/>
          </a:xfrm>
          <a:prstGeom prst="rect">
            <a:avLst/>
          </a:prstGeom>
          <a:noFill/>
        </p:spPr>
        <p:txBody>
          <a:bodyPr wrap="square">
            <a:spAutoFit/>
          </a:bodyPr>
          <a:lstStyle/>
          <a:p>
            <a:pPr algn="l">
              <a:spcBef>
                <a:spcPts val="600"/>
              </a:spcBef>
              <a:spcAft>
                <a:spcPts val="0"/>
              </a:spcAft>
            </a:pPr>
            <a:r>
              <a:rPr sz="2000" b="0">
                <a:solidFill>
                  <a:srgbClr val="4FC3F7"/>
                </a:solidFill>
              </a:rPr>
              <a:t>▸  </a:t>
            </a:r>
            <a:r>
              <a:rPr b="1" i="0" sz="2200">
                <a:solidFill>
                  <a:srgbClr val="FFD166"/>
                </a:solidFill>
              </a:rPr>
              <a:t>The Verdict:</a:t>
            </a:r>
            <a:r>
              <a:rPr b="0" i="0" sz="2200">
                <a:solidFill>
                  <a:srgbClr val="E0EAF6"/>
                </a:solidFill>
              </a:rPr>
              <a:t> Use </a:t>
            </a:r>
            <a:r>
              <a:rPr b="1" i="0" sz="2200">
                <a:solidFill>
                  <a:srgbClr val="FFD166"/>
                </a:solidFill>
              </a:rPr>
              <a:t>Flannel</a:t>
            </a:r>
            <a:r>
              <a:rPr b="0" i="0" sz="2200">
                <a:solidFill>
                  <a:srgbClr val="E0EAF6"/>
                </a:solidFill>
              </a:rPr>
              <a:t> for edge/latency, tuned </a:t>
            </a:r>
            <a:r>
              <a:rPr b="1" i="0" sz="2200">
                <a:solidFill>
                  <a:srgbClr val="FFD166"/>
                </a:solidFill>
              </a:rPr>
              <a:t>Calico</a:t>
            </a:r>
            <a:r>
              <a:rPr b="0" i="0" sz="2200">
                <a:solidFill>
                  <a:srgbClr val="E0EAF6"/>
                </a:solidFill>
              </a:rPr>
              <a:t> for throughput, and </a:t>
            </a:r>
            <a:r>
              <a:rPr b="1" i="0" sz="2200">
                <a:solidFill>
                  <a:srgbClr val="FFD166"/>
                </a:solidFill>
              </a:rPr>
              <a:t>Cilium (eBPF)</a:t>
            </a:r>
            <a:r>
              <a:rPr b="0" i="0" sz="2200">
                <a:solidFill>
                  <a:srgbClr val="E0EAF6"/>
                </a:solidFill>
              </a:rPr>
              <a:t> for massive scale.</a:t>
            </a:r>
          </a:p>
          <a:p>
            <a:pPr algn="l">
              <a:spcBef>
                <a:spcPts val="600"/>
              </a:spcBef>
              <a:spcAft>
                <a:spcPts val="0"/>
              </a:spcAft>
            </a:pPr>
            <a:r>
              <a:rPr sz="2000" b="0">
                <a:solidFill>
                  <a:srgbClr val="4FC3F7"/>
                </a:solidFill>
              </a:rPr>
              <a:t>▸  </a:t>
            </a:r>
            <a:r>
              <a:rPr b="1" i="0" sz="2200">
                <a:solidFill>
                  <a:srgbClr val="FFD166"/>
                </a:solidFill>
              </a:rPr>
              <a:t>Future Work:</a:t>
            </a:r>
            <a:r>
              <a:rPr b="0" i="0" sz="2200">
                <a:solidFill>
                  <a:srgbClr val="E0EAF6"/>
                </a:solidFill>
              </a:rPr>
              <a:t> Investigate hardware offloading via Data Processing Units (</a:t>
            </a:r>
            <a:r>
              <a:rPr b="1" i="0" sz="2200">
                <a:solidFill>
                  <a:srgbClr val="FFD166"/>
                </a:solidFill>
              </a:rPr>
              <a:t>DPUs</a:t>
            </a:r>
            <a:r>
              <a:rPr b="0" i="0" sz="2200">
                <a:solidFill>
                  <a:srgbClr val="E0EAF6"/>
                </a:solidFill>
              </a:rPr>
              <a:t>) for 100 Gbit/s networks.</a:t>
            </a:r>
          </a:p>
          <a:p>
            <a:pPr algn="l">
              <a:spcBef>
                <a:spcPts val="600"/>
              </a:spcBef>
              <a:spcAft>
                <a:spcPts val="0"/>
              </a:spcAft>
            </a:pPr>
            <a:r>
              <a:rPr sz="2000" b="0">
                <a:solidFill>
                  <a:srgbClr val="4FC3F7"/>
                </a:solidFill>
              </a:rPr>
              <a:t>▸  </a:t>
            </a:r>
            <a:r>
              <a:rPr b="1" i="0" sz="2200">
                <a:solidFill>
                  <a:srgbClr val="FFD166"/>
                </a:solidFill>
              </a:rPr>
              <a:t>Future Work:</a:t>
            </a:r>
            <a:r>
              <a:rPr b="0" i="0" sz="2200">
                <a:solidFill>
                  <a:srgbClr val="E0EAF6"/>
                </a:solidFill>
              </a:rPr>
              <a:t> Quantify the 'observability tax' of Deep Packet Inspection (</a:t>
            </a:r>
            <a:r>
              <a:rPr b="1" i="0" sz="2200">
                <a:solidFill>
                  <a:srgbClr val="FFD166"/>
                </a:solidFill>
              </a:rPr>
              <a:t>DPI</a:t>
            </a:r>
            <a:r>
              <a:rPr b="0" i="0" sz="2200">
                <a:solidFill>
                  <a:srgbClr val="E0EAF6"/>
                </a:solidFill>
              </a:rPr>
              <a:t>) in eBPF plugins.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